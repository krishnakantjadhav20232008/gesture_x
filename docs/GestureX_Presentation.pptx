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SfHhZZadGaqnhXTLUX1VyOfMQ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E32979-ECE6-4656-987F-A692BAC7D5CD}">
  <a:tblStyle styleId="{86E32979-ECE6-4656-987F-A692BAC7D5C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[morning/afternoon] everyone. I am presenting GestureX, an AI-based Sign Language and Gesture Control System built using Computer Vision and Machine Learning. In one line — GestureX watches a hand through a webcam, understands what it is doing, and turns that into either a recognized sign-language letter or a real command that controls the Windows computer, all in real time. Let's start with the problem this project solves.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is a real communication gap between sign-language users and people who don't understand sign language. At the same time, traditional input devices like keyboards and mice always need physical contact, which is not always convenient — for example, when hands are busy or a touch-free interface is preferred. This motivated us to build GestureX, a system that uses only a webcam, computer vision, and machine learning to both recognize signs and let users control their computer hands-free. Our main objectives were: real-time sign recognition, hands-free gesture control, accurate landmark extraction using MediaPipe, a reliable Random Forest classifier, an easy-to-use Streamlit interface, and mapping gestures to real Windows actions.</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complete workflow of GestureX. The webcam captures the video feed, MediaPipe Hands detects the hand and extracts 21 hand landmarks. Each landmark has x, y, z coordinates, giving 63 numeric features. These features are preprocessed and passed to a trained Random Forest model, whose output is converted back into a readable label using a Label Encoder, giving the final prediction. Depending on which mode is active, that prediction becomes either a Sign Output or a Windows Action. GestureX has two independent modes: Sign Language Recognition and Gesture Control — both share the same core pipeline but use separately trained models.</a:t>
            </a:r>
            <a:endParaRPr/>
          </a:p>
        </p:txBody>
      </p:sp>
      <p:sp>
        <p:nvSpPr>
          <p:cNvPr id="80" name="Google Shape;8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GestureX is built entirely in Python. OpenCV handles webcam video capture, while MediaPipe is the key library that detects the hand in each frame and extracts landmark points. NumPy and Pandas manage the numeric features and datasets, and Scikit-learn provides the tools to train our Random Forest classifier. Trained models are saved and loaded using Joblib. On the interface side, Streamlit — along with Streamlit-WebRTC and PyAV — powers the real-time webcam-based web application. Finally, the Windows API through Python's ctypes module is what lets GestureX actually send real keypress and volume commands to the operating system. The highlighted cards — MediaPipe, Random Forest, Streamlit, and the Windows API — are the four technologies most central to this project.</a:t>
            </a:r>
            <a:endParaRPr/>
          </a:p>
        </p:txBody>
      </p:sp>
      <p:sp>
        <p:nvSpPr>
          <p:cNvPr id="140" name="Google Shape;14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every frame, MediaPipe gives us 21 hand landmarks, and each landmark has an x, y, and z coordinate — so 21 multiplied by 3 gives us 63 numerical features per hand. These features are normalized and preprocessed for consistency, and the sign or gesture labels are converted into numbers using label encoding. This structured, numeric data is what we use to train our Random Forest classifier, and the trained model — along with the label encoder and scaler — is saved using Joblib so it can be reloaded instantly during real-time prediction. We chose Random Forest because it handles a moderate number of numeric features very well, combines many decision trees for more stable and reliable predictions, resists overfitting better than a single tree, and is fast enough for real-time use.</a:t>
            </a:r>
            <a:endParaRPr/>
          </a:p>
        </p:txBody>
      </p:sp>
      <p:sp>
        <p:nvSpPr>
          <p:cNvPr id="209" name="Google Shape;2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Sign Language Recognition mode, the camera captures the hand, MediaPipe detects it and extracts landmarks, and those become 63 features after preprocessing. These features go into the Sign Random Forest model, whose numeric output is converted into a readable alphabet or sign using the Label Encoder. Three model files power this: random_forest.pkl is the trained classifier, label_encoder.pkl converts predictions back to labels, and scaler.pkl handles feature scaling where available. This entire pipeline runs on every single frame in real time, and along with the predicted sign, the system also shows a confidence score so the user knows how certain the model is about its prediction.</a:t>
            </a:r>
            <a:endParaRPr/>
          </a:p>
        </p:txBody>
      </p:sp>
      <p:sp>
        <p:nvSpPr>
          <p:cNvPr id="258" name="Google Shape;25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Gesture Control mode, the same landmark pipeline feeds a separately trained gesture model — gesture_control_rf.pkl — with its own gesture_encoder.pkl. Each recognized gesture is mapped to a specific Windows action, as shown in this table: for instance, Thumbs Up increases volume, a Fist toggles play/pause, and directional gestures act as arrow keys or Enter. These actions are actually sent to Windows using virtual key codes through Python's ctypes module, so the system isn't just recognizing gestures — it is genuinely controlling the computer hands-free in real time.</a:t>
            </a:r>
            <a:endParaRPr/>
          </a:p>
        </p:txBody>
      </p:sp>
      <p:sp>
        <p:nvSpPr>
          <p:cNvPr id="330" name="Google Shape;33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GestureX uses a Streamlit-based dashboard with two tabs — Sign Language Mode and Gesture Control Mode. The interface shows the live webcam feed with hand landmarks drawn on it, along with the current prediction, confidence, the Windows action triggered, and which model files are loaded. Internally, the system works frame by frame: it captures a frame, detects the hand and extracts 21 landmarks, converts them to 63 features, runs the prediction, displays the result or triggers the Windows action, and then immediately repeats for the next frame — giving the smooth, real-time experience you see on screen.</a:t>
            </a:r>
            <a:endParaRPr/>
          </a:p>
        </p:txBody>
      </p:sp>
      <p:sp>
        <p:nvSpPr>
          <p:cNvPr id="359" name="Google Shape;3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terms of results, GestureX successfully achieves real-time hand detection, sign recognition, gesture recognition, Windows control, and an integrated Streamlit interface bringing everything together. The key advantages are that it is contactless, real-time, easy to use, low-cost since it only needs a webcam, and it combines sign recognition with computer control in one system. That said, there are some limitations — performance can depend on lighting and background, accuracy depends on the quality of training data, the system currently focuses on the trained gestures and signs only, and it operates on a single hand where applicable. Looking ahead, the future scope includes supporting more sign languages, more gestures, two-hand recognition, better datasets, deep-learning-based models, voice or text integration, and more computer-control functions.</a:t>
            </a:r>
            <a:endParaRPr/>
          </a:p>
        </p:txBody>
      </p:sp>
      <p:sp>
        <p:nvSpPr>
          <p:cNvPr id="414" name="Google Shape;41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conclude, GestureX successfully brings together Computer Vision and Machine Learning to make human-computer interaction more natural. Using MediaPipe for precise hand-landmark extraction and a Random Forest model for classification, the system performs real-time sign language recognition and gesture-based Windows control through nothing more than a standard webcam. Together, these features bridge communication gaps for sign-language users and offer a genuinely hands-free way to control a computer. Thank you for your attention — I am happy to take any questions.</a:t>
            </a:r>
            <a:endParaRPr/>
          </a:p>
        </p:txBody>
      </p:sp>
      <p:sp>
        <p:nvSpPr>
          <p:cNvPr id="479" name="Google Shape;47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9.png"/><Relationship Id="rId11" Type="http://schemas.openxmlformats.org/officeDocument/2006/relationships/image" Target="../media/image16.png"/><Relationship Id="rId10" Type="http://schemas.openxmlformats.org/officeDocument/2006/relationships/image" Target="../media/image13.png"/><Relationship Id="rId12" Type="http://schemas.openxmlformats.org/officeDocument/2006/relationships/image" Target="../media/image12.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31.png"/><Relationship Id="rId7" Type="http://schemas.openxmlformats.org/officeDocument/2006/relationships/image" Target="../media/image8.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4.png"/><Relationship Id="rId13" Type="http://schemas.openxmlformats.org/officeDocument/2006/relationships/image" Target="../media/image22.png"/><Relationship Id="rId12" Type="http://schemas.openxmlformats.org/officeDocument/2006/relationships/image" Target="../media/image25.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20.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31.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9.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31.png"/><Relationship Id="rId7" Type="http://schemas.openxmlformats.org/officeDocument/2006/relationships/image" Target="../media/image8.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41.png"/><Relationship Id="rId5" Type="http://schemas.openxmlformats.org/officeDocument/2006/relationships/image" Target="../media/image48.png"/><Relationship Id="rId6"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5.png"/><Relationship Id="rId4" Type="http://schemas.openxmlformats.org/officeDocument/2006/relationships/image" Target="../media/image20.png"/><Relationship Id="rId5" Type="http://schemas.openxmlformats.org/officeDocument/2006/relationships/image" Target="../media/image1.png"/><Relationship Id="rId6" Type="http://schemas.openxmlformats.org/officeDocument/2006/relationships/image" Target="../media/image22.png"/><Relationship Id="rId7"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15" name="Shape 15"/>
        <p:cNvGrpSpPr/>
        <p:nvPr/>
      </p:nvGrpSpPr>
      <p:grpSpPr>
        <a:xfrm>
          <a:off x="0" y="0"/>
          <a:ext cx="0" cy="0"/>
          <a:chOff x="0" y="0"/>
          <a:chExt cx="0" cy="0"/>
        </a:xfrm>
      </p:grpSpPr>
      <p:sp>
        <p:nvSpPr>
          <p:cNvPr id="16" name="Google Shape;16;p1"/>
          <p:cNvSpPr/>
          <p:nvPr/>
        </p:nvSpPr>
        <p:spPr>
          <a:xfrm>
            <a:off x="8778240" y="-2011680"/>
            <a:ext cx="5943600" cy="59436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2286000" y="4114800"/>
            <a:ext cx="4572000" cy="45720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85800" y="640080"/>
            <a:ext cx="777240" cy="77724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_cyan.png" id="19" name="Google Shape;19;p1"/>
          <p:cNvPicPr preferRelativeResize="0"/>
          <p:nvPr/>
        </p:nvPicPr>
        <p:blipFill rotWithShape="1">
          <a:blip r:embed="rId3">
            <a:alphaModFix/>
          </a:blip>
          <a:srcRect b="0" l="0" r="0" t="0"/>
          <a:stretch/>
        </p:blipFill>
        <p:spPr>
          <a:xfrm>
            <a:off x="887882" y="842162"/>
            <a:ext cx="373075" cy="373075"/>
          </a:xfrm>
          <a:prstGeom prst="rect">
            <a:avLst/>
          </a:prstGeom>
          <a:noFill/>
          <a:ln>
            <a:noFill/>
          </a:ln>
        </p:spPr>
      </p:pic>
      <p:sp>
        <p:nvSpPr>
          <p:cNvPr id="20" name="Google Shape;20;p1"/>
          <p:cNvSpPr/>
          <p:nvPr/>
        </p:nvSpPr>
        <p:spPr>
          <a:xfrm>
            <a:off x="1600200" y="658368"/>
            <a:ext cx="54864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1600"/>
              <a:buFont typeface="Calibri"/>
              <a:buNone/>
            </a:pPr>
            <a:r>
              <a:rPr b="1" i="0" lang="en-US" sz="1600" u="none" cap="none" strike="noStrike">
                <a:solidFill>
                  <a:srgbClr val="00E5FF"/>
                </a:solidFill>
                <a:latin typeface="Calibri"/>
                <a:ea typeface="Calibri"/>
                <a:cs typeface="Calibri"/>
                <a:sym typeface="Calibri"/>
              </a:rPr>
              <a:t>GESTUREX</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685800" y="2148840"/>
            <a:ext cx="1078992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Cambria"/>
              <a:buNone/>
            </a:pPr>
            <a:r>
              <a:rPr b="1" i="0" lang="en-US" sz="6000" u="none" cap="none" strike="noStrike">
                <a:solidFill>
                  <a:srgbClr val="FFFFFF"/>
                </a:solidFill>
                <a:latin typeface="Cambria"/>
                <a:ea typeface="Cambria"/>
                <a:cs typeface="Cambria"/>
                <a:sym typeface="Cambria"/>
              </a:rPr>
              <a:t>GestureX</a:t>
            </a:r>
            <a:endParaRPr b="0" i="0" sz="6000" u="none" cap="none" strike="noStrike">
              <a:solidFill>
                <a:schemeClr val="dk1"/>
              </a:solidFill>
              <a:latin typeface="Calibri"/>
              <a:ea typeface="Calibri"/>
              <a:cs typeface="Calibri"/>
              <a:sym typeface="Calibri"/>
            </a:endParaRPr>
          </a:p>
        </p:txBody>
      </p:sp>
      <p:sp>
        <p:nvSpPr>
          <p:cNvPr id="22" name="Google Shape;22;p1"/>
          <p:cNvSpPr/>
          <p:nvPr/>
        </p:nvSpPr>
        <p:spPr>
          <a:xfrm>
            <a:off x="713232" y="3063240"/>
            <a:ext cx="10058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F5"/>
              </a:buClr>
              <a:buSzPts val="2200"/>
              <a:buFont typeface="Calibri"/>
              <a:buNone/>
            </a:pPr>
            <a:r>
              <a:rPr b="0" i="0" lang="en-US" sz="2200" u="none" cap="none" strike="noStrike">
                <a:solidFill>
                  <a:srgbClr val="CFE3F5"/>
                </a:solidFill>
                <a:latin typeface="Calibri"/>
                <a:ea typeface="Calibri"/>
                <a:cs typeface="Calibri"/>
                <a:sym typeface="Calibri"/>
              </a:rPr>
              <a:t>AI Sign Language &amp; Gesture Control System</a:t>
            </a:r>
            <a:endParaRPr b="0" i="0" sz="2200" u="none" cap="none" strike="noStrike">
              <a:solidFill>
                <a:schemeClr val="dk1"/>
              </a:solidFill>
              <a:latin typeface="Calibri"/>
              <a:ea typeface="Calibri"/>
              <a:cs typeface="Calibri"/>
              <a:sym typeface="Calibri"/>
            </a:endParaRPr>
          </a:p>
        </p:txBody>
      </p:sp>
      <p:sp>
        <p:nvSpPr>
          <p:cNvPr id="23" name="Google Shape;23;p1"/>
          <p:cNvSpPr/>
          <p:nvPr/>
        </p:nvSpPr>
        <p:spPr>
          <a:xfrm>
            <a:off x="713232" y="3520440"/>
            <a:ext cx="10058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600"/>
              <a:buFont typeface="Calibri"/>
              <a:buNone/>
            </a:pPr>
            <a:r>
              <a:rPr b="0" i="1" lang="en-US" sz="1600" u="none" cap="none" strike="noStrike">
                <a:solidFill>
                  <a:srgbClr val="00C2CB"/>
                </a:solidFill>
                <a:latin typeface="Calibri"/>
                <a:ea typeface="Calibri"/>
                <a:cs typeface="Calibri"/>
                <a:sym typeface="Calibri"/>
              </a:rPr>
              <a:t>Using Computer Vision and Machine Learning</a:t>
            </a:r>
            <a:endParaRPr b="0" i="0" sz="1600" u="none" cap="none" strike="noStrike">
              <a:solidFill>
                <a:schemeClr val="dk1"/>
              </a:solidFill>
              <a:latin typeface="Calibri"/>
              <a:ea typeface="Calibri"/>
              <a:cs typeface="Calibri"/>
              <a:sym typeface="Calibri"/>
            </a:endParaRPr>
          </a:p>
        </p:txBody>
      </p:sp>
      <p:sp>
        <p:nvSpPr>
          <p:cNvPr id="24" name="Google Shape;24;p1"/>
          <p:cNvSpPr/>
          <p:nvPr/>
        </p:nvSpPr>
        <p:spPr>
          <a:xfrm>
            <a:off x="713232" y="4160520"/>
            <a:ext cx="3108960" cy="18288"/>
          </a:xfrm>
          <a:prstGeom prst="rect">
            <a:avLst/>
          </a:prstGeom>
          <a:solidFill>
            <a:srgbClr val="244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713232" y="434340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FC6DE"/>
              </a:buClr>
              <a:buSzPts val="1300"/>
              <a:buFont typeface="Calibri"/>
              <a:buNone/>
            </a:pPr>
            <a:r>
              <a:rPr b="0" i="1" lang="en-US" sz="1300" u="none" cap="none" strike="noStrike">
                <a:solidFill>
                  <a:srgbClr val="AFC6DE"/>
                </a:solidFill>
                <a:latin typeface="Calibri"/>
                <a:ea typeface="Calibri"/>
                <a:cs typeface="Calibri"/>
                <a:sym typeface="Calibri"/>
              </a:rPr>
              <a:t>Turning hand gestures into sign language text and hands-free computer control — in real time, using just a webcam.</a:t>
            </a:r>
            <a:endParaRPr b="0" i="0" sz="1300" u="none" cap="none" strike="noStrike">
              <a:solidFill>
                <a:schemeClr val="dk1"/>
              </a:solidFill>
              <a:latin typeface="Calibri"/>
              <a:ea typeface="Calibri"/>
              <a:cs typeface="Calibri"/>
              <a:sym typeface="Calibri"/>
            </a:endParaRPr>
          </a:p>
        </p:txBody>
      </p:sp>
      <p:sp>
        <p:nvSpPr>
          <p:cNvPr id="26" name="Google Shape;26;p1"/>
          <p:cNvSpPr/>
          <p:nvPr/>
        </p:nvSpPr>
        <p:spPr>
          <a:xfrm>
            <a:off x="9418320" y="5120640"/>
            <a:ext cx="1965960" cy="196596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brain_cyan.png" id="27" name="Google Shape;27;p1"/>
          <p:cNvPicPr preferRelativeResize="0"/>
          <p:nvPr/>
        </p:nvPicPr>
        <p:blipFill rotWithShape="1">
          <a:blip r:embed="rId4">
            <a:alphaModFix/>
          </a:blip>
          <a:srcRect b="0" l="0" r="0" t="0"/>
          <a:stretch/>
        </p:blipFill>
        <p:spPr>
          <a:xfrm>
            <a:off x="9875520" y="5577840"/>
            <a:ext cx="1051560" cy="1051560"/>
          </a:xfrm>
          <a:prstGeom prst="rect">
            <a:avLst/>
          </a:prstGeom>
          <a:noFill/>
          <a:ln>
            <a:noFill/>
          </a:ln>
        </p:spPr>
      </p:pic>
      <p:sp>
        <p:nvSpPr>
          <p:cNvPr id="28" name="Google Shape;28;p1"/>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PROJECT INTRODUCTION</a:t>
            </a:r>
            <a:endParaRPr b="0" i="0" sz="900" u="none" cap="none" strike="noStrike">
              <a:solidFill>
                <a:schemeClr val="dk1"/>
              </a:solidFill>
              <a:latin typeface="Calibri"/>
              <a:ea typeface="Calibri"/>
              <a:cs typeface="Calibri"/>
              <a:sym typeface="Calibri"/>
            </a:endParaRPr>
          </a:p>
        </p:txBody>
      </p:sp>
      <p:sp>
        <p:nvSpPr>
          <p:cNvPr id="29" name="Google Shape;29;p1"/>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34" name="Shape 34"/>
        <p:cNvGrpSpPr/>
        <p:nvPr/>
      </p:nvGrpSpPr>
      <p:grpSpPr>
        <a:xfrm>
          <a:off x="0" y="0"/>
          <a:ext cx="0" cy="0"/>
          <a:chOff x="0" y="0"/>
          <a:chExt cx="0" cy="0"/>
        </a:xfrm>
      </p:grpSpPr>
      <p:sp>
        <p:nvSpPr>
          <p:cNvPr id="35" name="Google Shape;35;p2"/>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THE WHY</a:t>
            </a:r>
            <a:endParaRPr b="0" i="0" sz="1200" u="none" cap="none" strike="noStrike">
              <a:solidFill>
                <a:schemeClr val="dk1"/>
              </a:solidFill>
              <a:latin typeface="Calibri"/>
              <a:ea typeface="Calibri"/>
              <a:cs typeface="Calibri"/>
              <a:sym typeface="Calibri"/>
            </a:endParaRPr>
          </a:p>
        </p:txBody>
      </p:sp>
      <p:sp>
        <p:nvSpPr>
          <p:cNvPr id="36" name="Google Shape;36;p2"/>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Problem Statement, Motivation &amp; Objectives</a:t>
            </a:r>
            <a:endParaRPr b="0" i="0" sz="3000" u="none" cap="none" strike="noStrike">
              <a:solidFill>
                <a:schemeClr val="dk1"/>
              </a:solidFill>
              <a:latin typeface="Calibri"/>
              <a:ea typeface="Calibri"/>
              <a:cs typeface="Calibri"/>
              <a:sym typeface="Calibri"/>
            </a:endParaRPr>
          </a:p>
        </p:txBody>
      </p:sp>
      <p:sp>
        <p:nvSpPr>
          <p:cNvPr id="37" name="Google Shape;37;p2"/>
          <p:cNvSpPr/>
          <p:nvPr/>
        </p:nvSpPr>
        <p:spPr>
          <a:xfrm>
            <a:off x="548640" y="1417320"/>
            <a:ext cx="5532120" cy="4892040"/>
          </a:xfrm>
          <a:prstGeom prst="roundRect">
            <a:avLst>
              <a:gd fmla="val 1682" name="adj"/>
            </a:avLst>
          </a:prstGeom>
          <a:solidFill>
            <a:srgbClr val="FFFFFF"/>
          </a:solidFill>
          <a:ln cap="flat" cmpd="sng" w="12700">
            <a:solidFill>
              <a:srgbClr val="E1E8F0"/>
            </a:solidFill>
            <a:prstDash val="solid"/>
            <a:round/>
            <a:headEnd len="sm" w="sm" type="none"/>
            <a:tailEnd len="sm" w="sm" type="none"/>
          </a:ln>
          <a:effectLst>
            <a:outerShdw blurRad="76200" rotWithShape="0" algn="bl" dir="5400000" dist="25400">
              <a:srgbClr val="9AA9BE">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68680" y="1645920"/>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00"/>
              <a:buFont typeface="Calibri"/>
              <a:buNone/>
            </a:pPr>
            <a:r>
              <a:rPr b="1" i="0" lang="en-US" sz="1300" u="none" cap="none" strike="noStrike">
                <a:solidFill>
                  <a:srgbClr val="0B1F3A"/>
                </a:solidFill>
                <a:latin typeface="Calibri"/>
                <a:ea typeface="Calibri"/>
                <a:cs typeface="Calibri"/>
                <a:sym typeface="Calibri"/>
              </a:rPr>
              <a:t>PROBLEM &amp; MOTIVATION</a:t>
            </a:r>
            <a:endParaRPr b="0" i="0" sz="1300" u="none" cap="none" strike="noStrike">
              <a:solidFill>
                <a:schemeClr val="dk1"/>
              </a:solidFill>
              <a:latin typeface="Calibri"/>
              <a:ea typeface="Calibri"/>
              <a:cs typeface="Calibri"/>
              <a:sym typeface="Calibri"/>
            </a:endParaRPr>
          </a:p>
        </p:txBody>
      </p:sp>
      <p:sp>
        <p:nvSpPr>
          <p:cNvPr id="39" name="Google Shape;39;p2"/>
          <p:cNvSpPr/>
          <p:nvPr/>
        </p:nvSpPr>
        <p:spPr>
          <a:xfrm>
            <a:off x="868680" y="2103120"/>
            <a:ext cx="502920" cy="50292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s_navy.png" id="40" name="Google Shape;40;p2"/>
          <p:cNvPicPr preferRelativeResize="0"/>
          <p:nvPr/>
        </p:nvPicPr>
        <p:blipFill rotWithShape="1">
          <a:blip r:embed="rId3">
            <a:alphaModFix/>
          </a:blip>
          <a:srcRect b="0" l="0" r="0" t="0"/>
          <a:stretch/>
        </p:blipFill>
        <p:spPr>
          <a:xfrm>
            <a:off x="987552" y="2221992"/>
            <a:ext cx="265176" cy="265176"/>
          </a:xfrm>
          <a:prstGeom prst="rect">
            <a:avLst/>
          </a:prstGeom>
          <a:noFill/>
          <a:ln>
            <a:noFill/>
          </a:ln>
        </p:spPr>
      </p:pic>
      <p:sp>
        <p:nvSpPr>
          <p:cNvPr id="41" name="Google Shape;41;p2"/>
          <p:cNvSpPr/>
          <p:nvPr/>
        </p:nvSpPr>
        <p:spPr>
          <a:xfrm>
            <a:off x="1536192" y="2084832"/>
            <a:ext cx="4343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50"/>
              <a:buFont typeface="Calibri"/>
              <a:buNone/>
            </a:pPr>
            <a:r>
              <a:rPr b="1" i="0" lang="en-US" sz="1350" u="none" cap="none" strike="noStrike">
                <a:solidFill>
                  <a:srgbClr val="16233B"/>
                </a:solidFill>
                <a:latin typeface="Calibri"/>
                <a:ea typeface="Calibri"/>
                <a:cs typeface="Calibri"/>
                <a:sym typeface="Calibri"/>
              </a:rPr>
              <a:t>Communication Gap</a:t>
            </a:r>
            <a:endParaRPr b="0" i="0" sz="1350" u="none" cap="none" strike="noStrike">
              <a:solidFill>
                <a:schemeClr val="dk1"/>
              </a:solidFill>
              <a:latin typeface="Calibri"/>
              <a:ea typeface="Calibri"/>
              <a:cs typeface="Calibri"/>
              <a:sym typeface="Calibri"/>
            </a:endParaRPr>
          </a:p>
        </p:txBody>
      </p:sp>
      <p:sp>
        <p:nvSpPr>
          <p:cNvPr id="42" name="Google Shape;42;p2"/>
          <p:cNvSpPr/>
          <p:nvPr/>
        </p:nvSpPr>
        <p:spPr>
          <a:xfrm>
            <a:off x="1536192" y="2350008"/>
            <a:ext cx="443484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Sign-language users often struggle to communicate with people who don't know sign language.</a:t>
            </a:r>
            <a:endParaRPr b="0" i="0" sz="1050" u="none" cap="none" strike="noStrike">
              <a:solidFill>
                <a:schemeClr val="dk1"/>
              </a:solidFill>
              <a:latin typeface="Calibri"/>
              <a:ea typeface="Calibri"/>
              <a:cs typeface="Calibri"/>
              <a:sym typeface="Calibri"/>
            </a:endParaRPr>
          </a:p>
        </p:txBody>
      </p:sp>
      <p:sp>
        <p:nvSpPr>
          <p:cNvPr id="43" name="Google Shape;43;p2"/>
          <p:cNvSpPr/>
          <p:nvPr/>
        </p:nvSpPr>
        <p:spPr>
          <a:xfrm>
            <a:off x="868680" y="3127248"/>
            <a:ext cx="502920" cy="50292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keyboard_navy.png" id="44" name="Google Shape;44;p2"/>
          <p:cNvPicPr preferRelativeResize="0"/>
          <p:nvPr/>
        </p:nvPicPr>
        <p:blipFill rotWithShape="1">
          <a:blip r:embed="rId4">
            <a:alphaModFix/>
          </a:blip>
          <a:srcRect b="0" l="0" r="0" t="0"/>
          <a:stretch/>
        </p:blipFill>
        <p:spPr>
          <a:xfrm>
            <a:off x="987552" y="3246120"/>
            <a:ext cx="265176" cy="265176"/>
          </a:xfrm>
          <a:prstGeom prst="rect">
            <a:avLst/>
          </a:prstGeom>
          <a:noFill/>
          <a:ln>
            <a:noFill/>
          </a:ln>
        </p:spPr>
      </p:pic>
      <p:sp>
        <p:nvSpPr>
          <p:cNvPr id="45" name="Google Shape;45;p2"/>
          <p:cNvSpPr/>
          <p:nvPr/>
        </p:nvSpPr>
        <p:spPr>
          <a:xfrm>
            <a:off x="1536192" y="3108960"/>
            <a:ext cx="4343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50"/>
              <a:buFont typeface="Calibri"/>
              <a:buNone/>
            </a:pPr>
            <a:r>
              <a:rPr b="1" i="0" lang="en-US" sz="1350" u="none" cap="none" strike="noStrike">
                <a:solidFill>
                  <a:srgbClr val="16233B"/>
                </a:solidFill>
                <a:latin typeface="Calibri"/>
                <a:ea typeface="Calibri"/>
                <a:cs typeface="Calibri"/>
                <a:sym typeface="Calibri"/>
              </a:rPr>
              <a:t>Limitations of Traditional Input</a:t>
            </a:r>
            <a:endParaRPr b="0" i="0" sz="1350" u="none" cap="none" strike="noStrike">
              <a:solidFill>
                <a:schemeClr val="dk1"/>
              </a:solidFill>
              <a:latin typeface="Calibri"/>
              <a:ea typeface="Calibri"/>
              <a:cs typeface="Calibri"/>
              <a:sym typeface="Calibri"/>
            </a:endParaRPr>
          </a:p>
        </p:txBody>
      </p:sp>
      <p:sp>
        <p:nvSpPr>
          <p:cNvPr id="46" name="Google Shape;46;p2"/>
          <p:cNvSpPr/>
          <p:nvPr/>
        </p:nvSpPr>
        <p:spPr>
          <a:xfrm>
            <a:off x="1536192" y="3374136"/>
            <a:ext cx="443484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Keyboards, mice, and remotes need physical contact and aren't always convenient or accessible.</a:t>
            </a:r>
            <a:endParaRPr b="0" i="0" sz="1050" u="none" cap="none" strike="noStrike">
              <a:solidFill>
                <a:schemeClr val="dk1"/>
              </a:solidFill>
              <a:latin typeface="Calibri"/>
              <a:ea typeface="Calibri"/>
              <a:cs typeface="Calibri"/>
              <a:sym typeface="Calibri"/>
            </a:endParaRPr>
          </a:p>
        </p:txBody>
      </p:sp>
      <p:sp>
        <p:nvSpPr>
          <p:cNvPr id="47" name="Google Shape;47;p2"/>
          <p:cNvSpPr/>
          <p:nvPr/>
        </p:nvSpPr>
        <p:spPr>
          <a:xfrm>
            <a:off x="868680" y="4151376"/>
            <a:ext cx="502920" cy="50292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desktop_navy.png" id="48" name="Google Shape;48;p2"/>
          <p:cNvPicPr preferRelativeResize="0"/>
          <p:nvPr/>
        </p:nvPicPr>
        <p:blipFill rotWithShape="1">
          <a:blip r:embed="rId5">
            <a:alphaModFix/>
          </a:blip>
          <a:srcRect b="0" l="0" r="0" t="0"/>
          <a:stretch/>
        </p:blipFill>
        <p:spPr>
          <a:xfrm>
            <a:off x="987552" y="4270248"/>
            <a:ext cx="265176" cy="265176"/>
          </a:xfrm>
          <a:prstGeom prst="rect">
            <a:avLst/>
          </a:prstGeom>
          <a:noFill/>
          <a:ln>
            <a:noFill/>
          </a:ln>
        </p:spPr>
      </p:pic>
      <p:sp>
        <p:nvSpPr>
          <p:cNvPr id="49" name="Google Shape;49;p2"/>
          <p:cNvSpPr/>
          <p:nvPr/>
        </p:nvSpPr>
        <p:spPr>
          <a:xfrm>
            <a:off x="1536192" y="4133088"/>
            <a:ext cx="4343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50"/>
              <a:buFont typeface="Calibri"/>
              <a:buNone/>
            </a:pPr>
            <a:r>
              <a:rPr b="1" i="0" lang="en-US" sz="1350" u="none" cap="none" strike="noStrike">
                <a:solidFill>
                  <a:srgbClr val="16233B"/>
                </a:solidFill>
                <a:latin typeface="Calibri"/>
                <a:ea typeface="Calibri"/>
                <a:cs typeface="Calibri"/>
                <a:sym typeface="Calibri"/>
              </a:rPr>
              <a:t>Need for Hands-Free Interaction</a:t>
            </a:r>
            <a:endParaRPr b="0" i="0" sz="1350" u="none" cap="none" strike="noStrike">
              <a:solidFill>
                <a:schemeClr val="dk1"/>
              </a:solidFill>
              <a:latin typeface="Calibri"/>
              <a:ea typeface="Calibri"/>
              <a:cs typeface="Calibri"/>
              <a:sym typeface="Calibri"/>
            </a:endParaRPr>
          </a:p>
        </p:txBody>
      </p:sp>
      <p:sp>
        <p:nvSpPr>
          <p:cNvPr id="50" name="Google Shape;50;p2"/>
          <p:cNvSpPr/>
          <p:nvPr/>
        </p:nvSpPr>
        <p:spPr>
          <a:xfrm>
            <a:off x="1536192" y="4398264"/>
            <a:ext cx="443484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Many situations call for controlling a computer without touching any device.</a:t>
            </a:r>
            <a:endParaRPr b="0" i="0" sz="1050" u="none" cap="none" strike="noStrike">
              <a:solidFill>
                <a:schemeClr val="dk1"/>
              </a:solidFill>
              <a:latin typeface="Calibri"/>
              <a:ea typeface="Calibri"/>
              <a:cs typeface="Calibri"/>
              <a:sym typeface="Calibri"/>
            </a:endParaRPr>
          </a:p>
        </p:txBody>
      </p:sp>
      <p:sp>
        <p:nvSpPr>
          <p:cNvPr id="51" name="Google Shape;51;p2"/>
          <p:cNvSpPr/>
          <p:nvPr/>
        </p:nvSpPr>
        <p:spPr>
          <a:xfrm>
            <a:off x="868680" y="5175504"/>
            <a:ext cx="502920" cy="50292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bulb_navy.png" id="52" name="Google Shape;52;p2"/>
          <p:cNvPicPr preferRelativeResize="0"/>
          <p:nvPr/>
        </p:nvPicPr>
        <p:blipFill rotWithShape="1">
          <a:blip r:embed="rId6">
            <a:alphaModFix/>
          </a:blip>
          <a:srcRect b="0" l="0" r="0" t="0"/>
          <a:stretch/>
        </p:blipFill>
        <p:spPr>
          <a:xfrm>
            <a:off x="987552" y="5294376"/>
            <a:ext cx="265176" cy="265176"/>
          </a:xfrm>
          <a:prstGeom prst="rect">
            <a:avLst/>
          </a:prstGeom>
          <a:noFill/>
          <a:ln>
            <a:noFill/>
          </a:ln>
        </p:spPr>
      </p:pic>
      <p:sp>
        <p:nvSpPr>
          <p:cNvPr id="53" name="Google Shape;53;p2"/>
          <p:cNvSpPr/>
          <p:nvPr/>
        </p:nvSpPr>
        <p:spPr>
          <a:xfrm>
            <a:off x="1536192" y="5157216"/>
            <a:ext cx="4343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50"/>
              <a:buFont typeface="Calibri"/>
              <a:buNone/>
            </a:pPr>
            <a:r>
              <a:rPr b="1" i="0" lang="en-US" sz="1350" u="none" cap="none" strike="noStrike">
                <a:solidFill>
                  <a:srgbClr val="16233B"/>
                </a:solidFill>
                <a:latin typeface="Calibri"/>
                <a:ea typeface="Calibri"/>
                <a:cs typeface="Calibri"/>
                <a:sym typeface="Calibri"/>
              </a:rPr>
              <a:t>Project Motivation</a:t>
            </a:r>
            <a:endParaRPr b="0" i="0" sz="1350" u="none" cap="none" strike="noStrike">
              <a:solidFill>
                <a:schemeClr val="dk1"/>
              </a:solidFill>
              <a:latin typeface="Calibri"/>
              <a:ea typeface="Calibri"/>
              <a:cs typeface="Calibri"/>
              <a:sym typeface="Calibri"/>
            </a:endParaRPr>
          </a:p>
        </p:txBody>
      </p:sp>
      <p:sp>
        <p:nvSpPr>
          <p:cNvPr id="54" name="Google Shape;54;p2"/>
          <p:cNvSpPr/>
          <p:nvPr/>
        </p:nvSpPr>
        <p:spPr>
          <a:xfrm>
            <a:off x="1536192" y="5422392"/>
            <a:ext cx="443484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Combine computer vision and ML to bridge this gap using nothing but an ordinary webcam.</a:t>
            </a:r>
            <a:endParaRPr b="0" i="0" sz="1050" u="none" cap="none" strike="noStrike">
              <a:solidFill>
                <a:schemeClr val="dk1"/>
              </a:solidFill>
              <a:latin typeface="Calibri"/>
              <a:ea typeface="Calibri"/>
              <a:cs typeface="Calibri"/>
              <a:sym typeface="Calibri"/>
            </a:endParaRPr>
          </a:p>
        </p:txBody>
      </p:sp>
      <p:sp>
        <p:nvSpPr>
          <p:cNvPr id="55" name="Google Shape;55;p2"/>
          <p:cNvSpPr/>
          <p:nvPr/>
        </p:nvSpPr>
        <p:spPr>
          <a:xfrm>
            <a:off x="6309360" y="1417320"/>
            <a:ext cx="5349240" cy="4892040"/>
          </a:xfrm>
          <a:prstGeom prst="roundRect">
            <a:avLst>
              <a:gd fmla="val 1682" name="adj"/>
            </a:avLst>
          </a:prstGeom>
          <a:solidFill>
            <a:srgbClr val="0B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629400" y="1645920"/>
            <a:ext cx="4754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1300"/>
              <a:buFont typeface="Calibri"/>
              <a:buNone/>
            </a:pPr>
            <a:r>
              <a:rPr b="1" i="0" lang="en-US" sz="1300" u="none" cap="none" strike="noStrike">
                <a:solidFill>
                  <a:srgbClr val="00E5FF"/>
                </a:solidFill>
                <a:latin typeface="Calibri"/>
                <a:ea typeface="Calibri"/>
                <a:cs typeface="Calibri"/>
                <a:sym typeface="Calibri"/>
              </a:rPr>
              <a:t>MAIN OBJECTIVES</a:t>
            </a:r>
            <a:endParaRPr b="0" i="0" sz="1300" u="none" cap="none" strike="noStrike">
              <a:solidFill>
                <a:schemeClr val="dk1"/>
              </a:solidFill>
              <a:latin typeface="Calibri"/>
              <a:ea typeface="Calibri"/>
              <a:cs typeface="Calibri"/>
              <a:sym typeface="Calibri"/>
            </a:endParaRPr>
          </a:p>
        </p:txBody>
      </p:sp>
      <p:sp>
        <p:nvSpPr>
          <p:cNvPr id="57" name="Google Shape;57;p2"/>
          <p:cNvSpPr/>
          <p:nvPr/>
        </p:nvSpPr>
        <p:spPr>
          <a:xfrm>
            <a:off x="6629400" y="2148840"/>
            <a:ext cx="384048" cy="384048"/>
          </a:xfrm>
          <a:prstGeom prst="roundRect">
            <a:avLst>
              <a:gd fmla="val 14286" name="adj"/>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629400" y="214884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400"/>
              <a:buFont typeface="Calibri"/>
              <a:buNone/>
            </a:pPr>
            <a:r>
              <a:rPr b="1" i="0" lang="en-US" sz="1400" u="none" cap="none" strike="noStrike">
                <a:solidFill>
                  <a:srgbClr val="00E5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9" name="Google Shape;59;p2"/>
          <p:cNvSpPr/>
          <p:nvPr/>
        </p:nvSpPr>
        <p:spPr>
          <a:xfrm>
            <a:off x="7178040" y="2121408"/>
            <a:ext cx="42976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150"/>
              <a:buFont typeface="Calibri"/>
              <a:buNone/>
            </a:pPr>
            <a:r>
              <a:rPr b="0" i="0" lang="en-US" sz="1150" u="none" cap="none" strike="noStrike">
                <a:solidFill>
                  <a:srgbClr val="E4EEF7"/>
                </a:solidFill>
                <a:latin typeface="Calibri"/>
                <a:ea typeface="Calibri"/>
                <a:cs typeface="Calibri"/>
                <a:sym typeface="Calibri"/>
              </a:rPr>
              <a:t>Recognize hand-formed signs / alphabets in real time using a webcam</a:t>
            </a:r>
            <a:endParaRPr b="0" i="0" sz="1150" u="none" cap="none" strike="noStrike">
              <a:solidFill>
                <a:schemeClr val="dk1"/>
              </a:solidFill>
              <a:latin typeface="Calibri"/>
              <a:ea typeface="Calibri"/>
              <a:cs typeface="Calibri"/>
              <a:sym typeface="Calibri"/>
            </a:endParaRPr>
          </a:p>
        </p:txBody>
      </p:sp>
      <p:sp>
        <p:nvSpPr>
          <p:cNvPr id="60" name="Google Shape;60;p2"/>
          <p:cNvSpPr/>
          <p:nvPr/>
        </p:nvSpPr>
        <p:spPr>
          <a:xfrm>
            <a:off x="6629400" y="2880360"/>
            <a:ext cx="384048" cy="384048"/>
          </a:xfrm>
          <a:prstGeom prst="roundRect">
            <a:avLst>
              <a:gd fmla="val 14286" name="adj"/>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629400" y="2880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400"/>
              <a:buFont typeface="Calibri"/>
              <a:buNone/>
            </a:pPr>
            <a:r>
              <a:rPr b="1" i="0" lang="en-US" sz="1400" u="none" cap="none" strike="noStrike">
                <a:solidFill>
                  <a:srgbClr val="00E5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62" name="Google Shape;62;p2"/>
          <p:cNvSpPr/>
          <p:nvPr/>
        </p:nvSpPr>
        <p:spPr>
          <a:xfrm>
            <a:off x="7178040" y="2852928"/>
            <a:ext cx="42976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150"/>
              <a:buFont typeface="Calibri"/>
              <a:buNone/>
            </a:pPr>
            <a:r>
              <a:rPr b="0" i="0" lang="en-US" sz="1150" u="none" cap="none" strike="noStrike">
                <a:solidFill>
                  <a:srgbClr val="E4EEF7"/>
                </a:solidFill>
                <a:latin typeface="Calibri"/>
                <a:ea typeface="Calibri"/>
                <a:cs typeface="Calibri"/>
                <a:sym typeface="Calibri"/>
              </a:rPr>
              <a:t>Enable hands-free control of the computer through hand gestures</a:t>
            </a:r>
            <a:endParaRPr b="0" i="0" sz="1150" u="none" cap="none" strike="noStrike">
              <a:solidFill>
                <a:schemeClr val="dk1"/>
              </a:solidFill>
              <a:latin typeface="Calibri"/>
              <a:ea typeface="Calibri"/>
              <a:cs typeface="Calibri"/>
              <a:sym typeface="Calibri"/>
            </a:endParaRPr>
          </a:p>
        </p:txBody>
      </p:sp>
      <p:sp>
        <p:nvSpPr>
          <p:cNvPr id="63" name="Google Shape;63;p2"/>
          <p:cNvSpPr/>
          <p:nvPr/>
        </p:nvSpPr>
        <p:spPr>
          <a:xfrm>
            <a:off x="6629400" y="3611880"/>
            <a:ext cx="384048" cy="384048"/>
          </a:xfrm>
          <a:prstGeom prst="roundRect">
            <a:avLst>
              <a:gd fmla="val 14286" name="adj"/>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629400" y="361188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400"/>
              <a:buFont typeface="Calibri"/>
              <a:buNone/>
            </a:pPr>
            <a:r>
              <a:rPr b="1" i="0" lang="en-US" sz="1400" u="none" cap="none" strike="noStrike">
                <a:solidFill>
                  <a:srgbClr val="00E5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65" name="Google Shape;65;p2"/>
          <p:cNvSpPr/>
          <p:nvPr/>
        </p:nvSpPr>
        <p:spPr>
          <a:xfrm>
            <a:off x="7178040" y="3584448"/>
            <a:ext cx="42976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150"/>
              <a:buFont typeface="Calibri"/>
              <a:buNone/>
            </a:pPr>
            <a:r>
              <a:rPr b="0" i="0" lang="en-US" sz="1150" u="none" cap="none" strike="noStrike">
                <a:solidFill>
                  <a:srgbClr val="E4EEF7"/>
                </a:solidFill>
                <a:latin typeface="Calibri"/>
                <a:ea typeface="Calibri"/>
                <a:cs typeface="Calibri"/>
                <a:sym typeface="Calibri"/>
              </a:rPr>
              <a:t>Extract accurate hand-landmark features using MediaPipe</a:t>
            </a:r>
            <a:endParaRPr b="0" i="0" sz="1150" u="none" cap="none" strike="noStrike">
              <a:solidFill>
                <a:schemeClr val="dk1"/>
              </a:solidFill>
              <a:latin typeface="Calibri"/>
              <a:ea typeface="Calibri"/>
              <a:cs typeface="Calibri"/>
              <a:sym typeface="Calibri"/>
            </a:endParaRPr>
          </a:p>
        </p:txBody>
      </p:sp>
      <p:sp>
        <p:nvSpPr>
          <p:cNvPr id="66" name="Google Shape;66;p2"/>
          <p:cNvSpPr/>
          <p:nvPr/>
        </p:nvSpPr>
        <p:spPr>
          <a:xfrm>
            <a:off x="6629400" y="4343400"/>
            <a:ext cx="384048" cy="384048"/>
          </a:xfrm>
          <a:prstGeom prst="roundRect">
            <a:avLst>
              <a:gd fmla="val 14286" name="adj"/>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629400" y="434340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400"/>
              <a:buFont typeface="Calibri"/>
              <a:buNone/>
            </a:pPr>
            <a:r>
              <a:rPr b="1" i="0" lang="en-US" sz="1400" u="none" cap="none" strike="noStrike">
                <a:solidFill>
                  <a:srgbClr val="00E5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68" name="Google Shape;68;p2"/>
          <p:cNvSpPr/>
          <p:nvPr/>
        </p:nvSpPr>
        <p:spPr>
          <a:xfrm>
            <a:off x="7178040" y="4315968"/>
            <a:ext cx="42976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150"/>
              <a:buFont typeface="Calibri"/>
              <a:buNone/>
            </a:pPr>
            <a:r>
              <a:rPr b="0" i="0" lang="en-US" sz="1150" u="none" cap="none" strike="noStrike">
                <a:solidFill>
                  <a:srgbClr val="E4EEF7"/>
                </a:solidFill>
                <a:latin typeface="Calibri"/>
                <a:ea typeface="Calibri"/>
                <a:cs typeface="Calibri"/>
                <a:sym typeface="Calibri"/>
              </a:rPr>
              <a:t>Train a reliable Machine Learning model (Random Forest) for classification</a:t>
            </a:r>
            <a:endParaRPr b="0" i="0" sz="1150" u="none" cap="none" strike="noStrike">
              <a:solidFill>
                <a:schemeClr val="dk1"/>
              </a:solidFill>
              <a:latin typeface="Calibri"/>
              <a:ea typeface="Calibri"/>
              <a:cs typeface="Calibri"/>
              <a:sym typeface="Calibri"/>
            </a:endParaRPr>
          </a:p>
        </p:txBody>
      </p:sp>
      <p:sp>
        <p:nvSpPr>
          <p:cNvPr id="69" name="Google Shape;69;p2"/>
          <p:cNvSpPr/>
          <p:nvPr/>
        </p:nvSpPr>
        <p:spPr>
          <a:xfrm>
            <a:off x="6629400" y="5074920"/>
            <a:ext cx="384048" cy="384048"/>
          </a:xfrm>
          <a:prstGeom prst="roundRect">
            <a:avLst>
              <a:gd fmla="val 14286" name="adj"/>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629400" y="507492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400"/>
              <a:buFont typeface="Calibri"/>
              <a:buNone/>
            </a:pPr>
            <a:r>
              <a:rPr b="1" i="0" lang="en-US" sz="1400" u="none" cap="none" strike="noStrike">
                <a:solidFill>
                  <a:srgbClr val="00E5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71" name="Google Shape;71;p2"/>
          <p:cNvSpPr/>
          <p:nvPr/>
        </p:nvSpPr>
        <p:spPr>
          <a:xfrm>
            <a:off x="7178040" y="5047488"/>
            <a:ext cx="42976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150"/>
              <a:buFont typeface="Calibri"/>
              <a:buNone/>
            </a:pPr>
            <a:r>
              <a:rPr b="0" i="0" lang="en-US" sz="1150" u="none" cap="none" strike="noStrike">
                <a:solidFill>
                  <a:srgbClr val="E4EEF7"/>
                </a:solidFill>
                <a:latin typeface="Calibri"/>
                <a:ea typeface="Calibri"/>
                <a:cs typeface="Calibri"/>
                <a:sym typeface="Calibri"/>
              </a:rPr>
              <a:t>Provide a simple, interactive Streamlit interface for both modes</a:t>
            </a:r>
            <a:endParaRPr b="0" i="0" sz="1150" u="none" cap="none" strike="noStrike">
              <a:solidFill>
                <a:schemeClr val="dk1"/>
              </a:solidFill>
              <a:latin typeface="Calibri"/>
              <a:ea typeface="Calibri"/>
              <a:cs typeface="Calibri"/>
              <a:sym typeface="Calibri"/>
            </a:endParaRPr>
          </a:p>
        </p:txBody>
      </p:sp>
      <p:sp>
        <p:nvSpPr>
          <p:cNvPr id="72" name="Google Shape;72;p2"/>
          <p:cNvSpPr/>
          <p:nvPr/>
        </p:nvSpPr>
        <p:spPr>
          <a:xfrm>
            <a:off x="6629400" y="5806440"/>
            <a:ext cx="384048" cy="384048"/>
          </a:xfrm>
          <a:prstGeom prst="roundRect">
            <a:avLst>
              <a:gd fmla="val 14286" name="adj"/>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6629400" y="580644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400"/>
              <a:buFont typeface="Calibri"/>
              <a:buNone/>
            </a:pPr>
            <a:r>
              <a:rPr b="1" i="0" lang="en-US" sz="1400" u="none" cap="none" strike="noStrike">
                <a:solidFill>
                  <a:srgbClr val="00E5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74" name="Google Shape;74;p2"/>
          <p:cNvSpPr/>
          <p:nvPr/>
        </p:nvSpPr>
        <p:spPr>
          <a:xfrm>
            <a:off x="7178040" y="5779008"/>
            <a:ext cx="42976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150"/>
              <a:buFont typeface="Calibri"/>
              <a:buNone/>
            </a:pPr>
            <a:r>
              <a:rPr b="0" i="0" lang="en-US" sz="1150" u="none" cap="none" strike="noStrike">
                <a:solidFill>
                  <a:srgbClr val="E4EEF7"/>
                </a:solidFill>
                <a:latin typeface="Calibri"/>
                <a:ea typeface="Calibri"/>
                <a:cs typeface="Calibri"/>
                <a:sym typeface="Calibri"/>
              </a:rPr>
              <a:t>Map recognized gestures to real Windows actions</a:t>
            </a:r>
            <a:endParaRPr b="0" i="0" sz="1150" u="none" cap="none" strike="noStrike">
              <a:solidFill>
                <a:schemeClr val="dk1"/>
              </a:solidFill>
              <a:latin typeface="Calibri"/>
              <a:ea typeface="Calibri"/>
              <a:cs typeface="Calibri"/>
              <a:sym typeface="Calibri"/>
            </a:endParaRPr>
          </a:p>
        </p:txBody>
      </p:sp>
      <p:sp>
        <p:nvSpPr>
          <p:cNvPr id="75" name="Google Shape;75;p2"/>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PROBLEM, MOTIVATION &amp; OBJECTIVES</a:t>
            </a:r>
            <a:endParaRPr b="0" i="0" sz="900" u="none" cap="none" strike="noStrike">
              <a:solidFill>
                <a:schemeClr val="dk1"/>
              </a:solidFill>
              <a:latin typeface="Calibri"/>
              <a:ea typeface="Calibri"/>
              <a:cs typeface="Calibri"/>
              <a:sym typeface="Calibri"/>
            </a:endParaRPr>
          </a:p>
        </p:txBody>
      </p:sp>
      <p:sp>
        <p:nvSpPr>
          <p:cNvPr id="76" name="Google Shape;76;p2"/>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2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81" name="Shape 81"/>
        <p:cNvGrpSpPr/>
        <p:nvPr/>
      </p:nvGrpSpPr>
      <p:grpSpPr>
        <a:xfrm>
          <a:off x="0" y="0"/>
          <a:ext cx="0" cy="0"/>
          <a:chOff x="0" y="0"/>
          <a:chExt cx="0" cy="0"/>
        </a:xfrm>
      </p:grpSpPr>
      <p:sp>
        <p:nvSpPr>
          <p:cNvPr id="82" name="Google Shape;82;p3"/>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83" name="Google Shape;83;p3"/>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Proposed System &amp; Architecture</a:t>
            </a:r>
            <a:endParaRPr b="0" i="0" sz="3000" u="none" cap="none" strike="noStrike">
              <a:solidFill>
                <a:schemeClr val="dk1"/>
              </a:solidFill>
              <a:latin typeface="Calibri"/>
              <a:ea typeface="Calibri"/>
              <a:cs typeface="Calibri"/>
              <a:sym typeface="Calibri"/>
            </a:endParaRPr>
          </a:p>
        </p:txBody>
      </p:sp>
      <p:sp>
        <p:nvSpPr>
          <p:cNvPr id="84" name="Google Shape;84;p3"/>
          <p:cNvSpPr/>
          <p:nvPr/>
        </p:nvSpPr>
        <p:spPr>
          <a:xfrm>
            <a:off x="548640"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68680"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amera_navy.png" id="86" name="Google Shape;86;p3"/>
          <p:cNvPicPr preferRelativeResize="0"/>
          <p:nvPr/>
        </p:nvPicPr>
        <p:blipFill rotWithShape="1">
          <a:blip r:embed="rId3">
            <a:alphaModFix/>
          </a:blip>
          <a:srcRect b="0" l="0" r="0" t="0"/>
          <a:stretch/>
        </p:blipFill>
        <p:spPr>
          <a:xfrm>
            <a:off x="978408" y="1828800"/>
            <a:ext cx="274320" cy="274320"/>
          </a:xfrm>
          <a:prstGeom prst="rect">
            <a:avLst/>
          </a:prstGeom>
          <a:noFill/>
          <a:ln>
            <a:noFill/>
          </a:ln>
        </p:spPr>
      </p:pic>
      <p:sp>
        <p:nvSpPr>
          <p:cNvPr id="87" name="Google Shape;87;p3"/>
          <p:cNvSpPr/>
          <p:nvPr/>
        </p:nvSpPr>
        <p:spPr>
          <a:xfrm>
            <a:off x="566928"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Webcam</a:t>
            </a:r>
            <a:endParaRPr b="0" i="0" sz="1050" u="none" cap="none" strike="noStrike">
              <a:solidFill>
                <a:schemeClr val="dk1"/>
              </a:solidFill>
              <a:latin typeface="Calibri"/>
              <a:ea typeface="Calibri"/>
              <a:cs typeface="Calibri"/>
              <a:sym typeface="Calibri"/>
            </a:endParaRPr>
          </a:p>
        </p:txBody>
      </p:sp>
      <p:sp>
        <p:nvSpPr>
          <p:cNvPr id="88" name="Google Shape;88;p3"/>
          <p:cNvSpPr/>
          <p:nvPr/>
        </p:nvSpPr>
        <p:spPr>
          <a:xfrm>
            <a:off x="1700784" y="2171700"/>
            <a:ext cx="182880" cy="182880"/>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1901952"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2221992"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_navy.png" id="91" name="Google Shape;91;p3"/>
          <p:cNvPicPr preferRelativeResize="0"/>
          <p:nvPr/>
        </p:nvPicPr>
        <p:blipFill rotWithShape="1">
          <a:blip r:embed="rId4">
            <a:alphaModFix/>
          </a:blip>
          <a:srcRect b="0" l="0" r="0" t="0"/>
          <a:stretch/>
        </p:blipFill>
        <p:spPr>
          <a:xfrm>
            <a:off x="2331720" y="1828800"/>
            <a:ext cx="274320" cy="274320"/>
          </a:xfrm>
          <a:prstGeom prst="rect">
            <a:avLst/>
          </a:prstGeom>
          <a:noFill/>
          <a:ln>
            <a:noFill/>
          </a:ln>
        </p:spPr>
      </p:pic>
      <p:sp>
        <p:nvSpPr>
          <p:cNvPr id="92" name="Google Shape;92;p3"/>
          <p:cNvSpPr/>
          <p:nvPr/>
        </p:nvSpPr>
        <p:spPr>
          <a:xfrm>
            <a:off x="1920240"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MediaPipe</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Hands</a:t>
            </a:r>
            <a:endParaRPr b="0" i="0" sz="1050" u="none" cap="none" strike="noStrike">
              <a:solidFill>
                <a:schemeClr val="dk1"/>
              </a:solidFill>
              <a:latin typeface="Calibri"/>
              <a:ea typeface="Calibri"/>
              <a:cs typeface="Calibri"/>
              <a:sym typeface="Calibri"/>
            </a:endParaRPr>
          </a:p>
        </p:txBody>
      </p:sp>
      <p:sp>
        <p:nvSpPr>
          <p:cNvPr id="93" name="Google Shape;93;p3"/>
          <p:cNvSpPr/>
          <p:nvPr/>
        </p:nvSpPr>
        <p:spPr>
          <a:xfrm>
            <a:off x="3054096" y="2171700"/>
            <a:ext cx="182880" cy="182880"/>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3255264"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3575304"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layers_navy.png" id="96" name="Google Shape;96;p3"/>
          <p:cNvPicPr preferRelativeResize="0"/>
          <p:nvPr/>
        </p:nvPicPr>
        <p:blipFill rotWithShape="1">
          <a:blip r:embed="rId5">
            <a:alphaModFix/>
          </a:blip>
          <a:srcRect b="0" l="0" r="0" t="0"/>
          <a:stretch/>
        </p:blipFill>
        <p:spPr>
          <a:xfrm>
            <a:off x="3685032" y="1828800"/>
            <a:ext cx="274320" cy="274320"/>
          </a:xfrm>
          <a:prstGeom prst="rect">
            <a:avLst/>
          </a:prstGeom>
          <a:noFill/>
          <a:ln>
            <a:noFill/>
          </a:ln>
        </p:spPr>
      </p:pic>
      <p:sp>
        <p:nvSpPr>
          <p:cNvPr id="97" name="Google Shape;97;p3"/>
          <p:cNvSpPr/>
          <p:nvPr/>
        </p:nvSpPr>
        <p:spPr>
          <a:xfrm>
            <a:off x="3273552"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21 Hand</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Landmarks</a:t>
            </a:r>
            <a:endParaRPr b="0" i="0" sz="1050" u="none" cap="none" strike="noStrike">
              <a:solidFill>
                <a:schemeClr val="dk1"/>
              </a:solidFill>
              <a:latin typeface="Calibri"/>
              <a:ea typeface="Calibri"/>
              <a:cs typeface="Calibri"/>
              <a:sym typeface="Calibri"/>
            </a:endParaRPr>
          </a:p>
        </p:txBody>
      </p:sp>
      <p:sp>
        <p:nvSpPr>
          <p:cNvPr id="98" name="Google Shape;98;p3"/>
          <p:cNvSpPr/>
          <p:nvPr/>
        </p:nvSpPr>
        <p:spPr>
          <a:xfrm>
            <a:off x="4407408" y="2171700"/>
            <a:ext cx="182880" cy="182880"/>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4608576"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4928616"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database_navy.png" id="101" name="Google Shape;101;p3"/>
          <p:cNvPicPr preferRelativeResize="0"/>
          <p:nvPr/>
        </p:nvPicPr>
        <p:blipFill rotWithShape="1">
          <a:blip r:embed="rId6">
            <a:alphaModFix/>
          </a:blip>
          <a:srcRect b="0" l="0" r="0" t="0"/>
          <a:stretch/>
        </p:blipFill>
        <p:spPr>
          <a:xfrm>
            <a:off x="5038344" y="1828800"/>
            <a:ext cx="274320" cy="274320"/>
          </a:xfrm>
          <a:prstGeom prst="rect">
            <a:avLst/>
          </a:prstGeom>
          <a:noFill/>
          <a:ln>
            <a:noFill/>
          </a:ln>
        </p:spPr>
      </p:pic>
      <p:sp>
        <p:nvSpPr>
          <p:cNvPr id="102" name="Google Shape;102;p3"/>
          <p:cNvSpPr/>
          <p:nvPr/>
        </p:nvSpPr>
        <p:spPr>
          <a:xfrm>
            <a:off x="4626864"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63</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Features</a:t>
            </a:r>
            <a:endParaRPr b="0" i="0" sz="1050" u="none" cap="none" strike="noStrike">
              <a:solidFill>
                <a:schemeClr val="dk1"/>
              </a:solidFill>
              <a:latin typeface="Calibri"/>
              <a:ea typeface="Calibri"/>
              <a:cs typeface="Calibri"/>
              <a:sym typeface="Calibri"/>
            </a:endParaRPr>
          </a:p>
        </p:txBody>
      </p:sp>
      <p:sp>
        <p:nvSpPr>
          <p:cNvPr id="103" name="Google Shape;103;p3"/>
          <p:cNvSpPr/>
          <p:nvPr/>
        </p:nvSpPr>
        <p:spPr>
          <a:xfrm>
            <a:off x="5760720" y="2171700"/>
            <a:ext cx="182880" cy="182880"/>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5961888"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6281928"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ogs_navy.png" id="106" name="Google Shape;106;p3"/>
          <p:cNvPicPr preferRelativeResize="0"/>
          <p:nvPr/>
        </p:nvPicPr>
        <p:blipFill rotWithShape="1">
          <a:blip r:embed="rId7">
            <a:alphaModFix/>
          </a:blip>
          <a:srcRect b="0" l="0" r="0" t="0"/>
          <a:stretch/>
        </p:blipFill>
        <p:spPr>
          <a:xfrm>
            <a:off x="6391656" y="1828800"/>
            <a:ext cx="274320" cy="274320"/>
          </a:xfrm>
          <a:prstGeom prst="rect">
            <a:avLst/>
          </a:prstGeom>
          <a:noFill/>
          <a:ln>
            <a:noFill/>
          </a:ln>
        </p:spPr>
      </p:pic>
      <p:sp>
        <p:nvSpPr>
          <p:cNvPr id="107" name="Google Shape;107;p3"/>
          <p:cNvSpPr/>
          <p:nvPr/>
        </p:nvSpPr>
        <p:spPr>
          <a:xfrm>
            <a:off x="5980176"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Preprocessing</a:t>
            </a:r>
            <a:endParaRPr b="0" i="0" sz="1050" u="none" cap="none" strike="noStrike">
              <a:solidFill>
                <a:schemeClr val="dk1"/>
              </a:solidFill>
              <a:latin typeface="Calibri"/>
              <a:ea typeface="Calibri"/>
              <a:cs typeface="Calibri"/>
              <a:sym typeface="Calibri"/>
            </a:endParaRPr>
          </a:p>
        </p:txBody>
      </p:sp>
      <p:sp>
        <p:nvSpPr>
          <p:cNvPr id="108" name="Google Shape;108;p3"/>
          <p:cNvSpPr/>
          <p:nvPr/>
        </p:nvSpPr>
        <p:spPr>
          <a:xfrm>
            <a:off x="7114032" y="2171700"/>
            <a:ext cx="182880" cy="182880"/>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7315200"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7635240"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tree_navy.png" id="111" name="Google Shape;111;p3"/>
          <p:cNvPicPr preferRelativeResize="0"/>
          <p:nvPr/>
        </p:nvPicPr>
        <p:blipFill rotWithShape="1">
          <a:blip r:embed="rId8">
            <a:alphaModFix/>
          </a:blip>
          <a:srcRect b="0" l="0" r="0" t="0"/>
          <a:stretch/>
        </p:blipFill>
        <p:spPr>
          <a:xfrm>
            <a:off x="7744968" y="1828800"/>
            <a:ext cx="274320" cy="274320"/>
          </a:xfrm>
          <a:prstGeom prst="rect">
            <a:avLst/>
          </a:prstGeom>
          <a:noFill/>
          <a:ln>
            <a:noFill/>
          </a:ln>
        </p:spPr>
      </p:pic>
      <p:sp>
        <p:nvSpPr>
          <p:cNvPr id="112" name="Google Shape;112;p3"/>
          <p:cNvSpPr/>
          <p:nvPr/>
        </p:nvSpPr>
        <p:spPr>
          <a:xfrm>
            <a:off x="7333488"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Random</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Forest</a:t>
            </a:r>
            <a:endParaRPr b="0" i="0" sz="1050" u="none" cap="none" strike="noStrike">
              <a:solidFill>
                <a:schemeClr val="dk1"/>
              </a:solidFill>
              <a:latin typeface="Calibri"/>
              <a:ea typeface="Calibri"/>
              <a:cs typeface="Calibri"/>
              <a:sym typeface="Calibri"/>
            </a:endParaRPr>
          </a:p>
        </p:txBody>
      </p:sp>
      <p:sp>
        <p:nvSpPr>
          <p:cNvPr id="113" name="Google Shape;113;p3"/>
          <p:cNvSpPr/>
          <p:nvPr/>
        </p:nvSpPr>
        <p:spPr>
          <a:xfrm>
            <a:off x="8467344" y="2171700"/>
            <a:ext cx="182880" cy="182880"/>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8668512"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8988552"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ode_navy.png" id="116" name="Google Shape;116;p3"/>
          <p:cNvPicPr preferRelativeResize="0"/>
          <p:nvPr/>
        </p:nvPicPr>
        <p:blipFill rotWithShape="1">
          <a:blip r:embed="rId9">
            <a:alphaModFix/>
          </a:blip>
          <a:srcRect b="0" l="0" r="0" t="0"/>
          <a:stretch/>
        </p:blipFill>
        <p:spPr>
          <a:xfrm>
            <a:off x="9098280" y="1828800"/>
            <a:ext cx="274320" cy="274320"/>
          </a:xfrm>
          <a:prstGeom prst="rect">
            <a:avLst/>
          </a:prstGeom>
          <a:noFill/>
          <a:ln>
            <a:noFill/>
          </a:ln>
        </p:spPr>
      </p:pic>
      <p:sp>
        <p:nvSpPr>
          <p:cNvPr id="117" name="Google Shape;117;p3"/>
          <p:cNvSpPr/>
          <p:nvPr/>
        </p:nvSpPr>
        <p:spPr>
          <a:xfrm>
            <a:off x="8686800"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Label</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Encoder</a:t>
            </a:r>
            <a:endParaRPr b="0" i="0" sz="1050" u="none" cap="none" strike="noStrike">
              <a:solidFill>
                <a:schemeClr val="dk1"/>
              </a:solidFill>
              <a:latin typeface="Calibri"/>
              <a:ea typeface="Calibri"/>
              <a:cs typeface="Calibri"/>
              <a:sym typeface="Calibri"/>
            </a:endParaRPr>
          </a:p>
        </p:txBody>
      </p:sp>
      <p:sp>
        <p:nvSpPr>
          <p:cNvPr id="118" name="Google Shape;118;p3"/>
          <p:cNvSpPr/>
          <p:nvPr/>
        </p:nvSpPr>
        <p:spPr>
          <a:xfrm>
            <a:off x="9820656" y="2171700"/>
            <a:ext cx="182880" cy="182880"/>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10021824" y="1463040"/>
            <a:ext cx="1133856" cy="1600200"/>
          </a:xfrm>
          <a:prstGeom prst="roundRect">
            <a:avLst>
              <a:gd fmla="val 7258"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10341864" y="1719072"/>
            <a:ext cx="493776" cy="493776"/>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heck_navy.png" id="121" name="Google Shape;121;p3"/>
          <p:cNvPicPr preferRelativeResize="0"/>
          <p:nvPr/>
        </p:nvPicPr>
        <p:blipFill rotWithShape="1">
          <a:blip r:embed="rId10">
            <a:alphaModFix/>
          </a:blip>
          <a:srcRect b="0" l="0" r="0" t="0"/>
          <a:stretch/>
        </p:blipFill>
        <p:spPr>
          <a:xfrm>
            <a:off x="10451592" y="1828800"/>
            <a:ext cx="274320" cy="274320"/>
          </a:xfrm>
          <a:prstGeom prst="rect">
            <a:avLst/>
          </a:prstGeom>
          <a:noFill/>
          <a:ln>
            <a:noFill/>
          </a:ln>
        </p:spPr>
      </p:pic>
      <p:sp>
        <p:nvSpPr>
          <p:cNvPr id="122" name="Google Shape;122;p3"/>
          <p:cNvSpPr/>
          <p:nvPr/>
        </p:nvSpPr>
        <p:spPr>
          <a:xfrm>
            <a:off x="10040112" y="2359152"/>
            <a:ext cx="10972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1050"/>
              <a:buFont typeface="Calibri"/>
              <a:buNone/>
            </a:pPr>
            <a:r>
              <a:rPr b="1" i="0" lang="en-US" sz="1050" u="none" cap="none" strike="noStrike">
                <a:solidFill>
                  <a:srgbClr val="16233B"/>
                </a:solidFill>
                <a:latin typeface="Calibri"/>
                <a:ea typeface="Calibri"/>
                <a:cs typeface="Calibri"/>
                <a:sym typeface="Calibri"/>
              </a:rPr>
              <a:t>Prediction</a:t>
            </a:r>
            <a:endParaRPr b="0" i="0" sz="1050" u="none" cap="none" strike="noStrike">
              <a:solidFill>
                <a:schemeClr val="dk1"/>
              </a:solidFill>
              <a:latin typeface="Calibri"/>
              <a:ea typeface="Calibri"/>
              <a:cs typeface="Calibri"/>
              <a:sym typeface="Calibri"/>
            </a:endParaRPr>
          </a:p>
        </p:txBody>
      </p:sp>
      <p:sp>
        <p:nvSpPr>
          <p:cNvPr id="123" name="Google Shape;123;p3"/>
          <p:cNvSpPr/>
          <p:nvPr/>
        </p:nvSpPr>
        <p:spPr>
          <a:xfrm>
            <a:off x="548640" y="3383280"/>
            <a:ext cx="10607040" cy="548640"/>
          </a:xfrm>
          <a:prstGeom prst="rect">
            <a:avLst/>
          </a:prstGeom>
          <a:solidFill>
            <a:srgbClr val="0B1F3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Sign Output  /  Windows Action</a:t>
            </a:r>
            <a:endParaRPr b="0" i="0" sz="1600" u="none" cap="none" strike="noStrike">
              <a:solidFill>
                <a:schemeClr val="dk1"/>
              </a:solidFill>
              <a:latin typeface="Calibri"/>
              <a:ea typeface="Calibri"/>
              <a:cs typeface="Calibri"/>
              <a:sym typeface="Calibri"/>
            </a:endParaRPr>
          </a:p>
        </p:txBody>
      </p:sp>
      <p:sp>
        <p:nvSpPr>
          <p:cNvPr id="124" name="Google Shape;124;p3"/>
          <p:cNvSpPr/>
          <p:nvPr/>
        </p:nvSpPr>
        <p:spPr>
          <a:xfrm>
            <a:off x="548640" y="4206240"/>
            <a:ext cx="5349240" cy="1234440"/>
          </a:xfrm>
          <a:prstGeom prst="roundRect">
            <a:avLst>
              <a:gd fmla="val 6667" name="adj"/>
            </a:avLst>
          </a:prstGeom>
          <a:solidFill>
            <a:srgbClr val="E8F9FA"/>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822960" y="4480560"/>
            <a:ext cx="685800" cy="685800"/>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_white.png" id="126" name="Google Shape;126;p3"/>
          <p:cNvPicPr preferRelativeResize="0"/>
          <p:nvPr/>
        </p:nvPicPr>
        <p:blipFill rotWithShape="1">
          <a:blip r:embed="rId11">
            <a:alphaModFix/>
          </a:blip>
          <a:srcRect b="0" l="0" r="0" t="0"/>
          <a:stretch/>
        </p:blipFill>
        <p:spPr>
          <a:xfrm>
            <a:off x="978408" y="4636008"/>
            <a:ext cx="374904" cy="374904"/>
          </a:xfrm>
          <a:prstGeom prst="rect">
            <a:avLst/>
          </a:prstGeom>
          <a:noFill/>
          <a:ln>
            <a:noFill/>
          </a:ln>
        </p:spPr>
      </p:pic>
      <p:sp>
        <p:nvSpPr>
          <p:cNvPr id="127" name="Google Shape;127;p3"/>
          <p:cNvSpPr/>
          <p:nvPr/>
        </p:nvSpPr>
        <p:spPr>
          <a:xfrm>
            <a:off x="1691640" y="4498848"/>
            <a:ext cx="4023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50"/>
              <a:buFont typeface="Calibri"/>
              <a:buNone/>
            </a:pPr>
            <a:r>
              <a:rPr b="1" i="0" lang="en-US" sz="1350" u="none" cap="none" strike="noStrike">
                <a:solidFill>
                  <a:srgbClr val="0B1F3A"/>
                </a:solidFill>
                <a:latin typeface="Calibri"/>
                <a:ea typeface="Calibri"/>
                <a:cs typeface="Calibri"/>
                <a:sym typeface="Calibri"/>
              </a:rPr>
              <a:t>Mode 1 — Sign Language Recognition</a:t>
            </a:r>
            <a:endParaRPr b="0" i="0" sz="1350" u="none" cap="none" strike="noStrike">
              <a:solidFill>
                <a:schemeClr val="dk1"/>
              </a:solidFill>
              <a:latin typeface="Calibri"/>
              <a:ea typeface="Calibri"/>
              <a:cs typeface="Calibri"/>
              <a:sym typeface="Calibri"/>
            </a:endParaRPr>
          </a:p>
        </p:txBody>
      </p:sp>
      <p:sp>
        <p:nvSpPr>
          <p:cNvPr id="128" name="Google Shape;128;p3"/>
          <p:cNvSpPr/>
          <p:nvPr/>
        </p:nvSpPr>
        <p:spPr>
          <a:xfrm>
            <a:off x="1691640" y="4864608"/>
            <a:ext cx="40233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100"/>
              <a:buFont typeface="Calibri"/>
              <a:buNone/>
            </a:pPr>
            <a:r>
              <a:rPr b="0" i="0" lang="en-US" sz="1100" u="none" cap="none" strike="noStrike">
                <a:solidFill>
                  <a:srgbClr val="5B6B82"/>
                </a:solidFill>
                <a:latin typeface="Calibri"/>
                <a:ea typeface="Calibri"/>
                <a:cs typeface="Calibri"/>
                <a:sym typeface="Calibri"/>
              </a:rPr>
              <a:t>Converts hand-formed signs into predicted alphabets / signs in real time</a:t>
            </a:r>
            <a:endParaRPr b="0" i="0" sz="1100" u="none" cap="none" strike="noStrike">
              <a:solidFill>
                <a:schemeClr val="dk1"/>
              </a:solidFill>
              <a:latin typeface="Calibri"/>
              <a:ea typeface="Calibri"/>
              <a:cs typeface="Calibri"/>
              <a:sym typeface="Calibri"/>
            </a:endParaRPr>
          </a:p>
        </p:txBody>
      </p:sp>
      <p:sp>
        <p:nvSpPr>
          <p:cNvPr id="129" name="Google Shape;129;p3"/>
          <p:cNvSpPr/>
          <p:nvPr/>
        </p:nvSpPr>
        <p:spPr>
          <a:xfrm>
            <a:off x="6309360" y="4206240"/>
            <a:ext cx="5349240" cy="1234440"/>
          </a:xfrm>
          <a:prstGeom prst="roundRect">
            <a:avLst>
              <a:gd fmla="val 6667" name="adj"/>
            </a:avLst>
          </a:prstGeom>
          <a:solidFill>
            <a:srgbClr val="E8F9FA"/>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6583680" y="4480560"/>
            <a:ext cx="685800" cy="685800"/>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windows_white.png" id="131" name="Google Shape;131;p3"/>
          <p:cNvPicPr preferRelativeResize="0"/>
          <p:nvPr/>
        </p:nvPicPr>
        <p:blipFill rotWithShape="1">
          <a:blip r:embed="rId12">
            <a:alphaModFix/>
          </a:blip>
          <a:srcRect b="0" l="0" r="0" t="0"/>
          <a:stretch/>
        </p:blipFill>
        <p:spPr>
          <a:xfrm>
            <a:off x="6739128" y="4636008"/>
            <a:ext cx="374904" cy="374904"/>
          </a:xfrm>
          <a:prstGeom prst="rect">
            <a:avLst/>
          </a:prstGeom>
          <a:noFill/>
          <a:ln>
            <a:noFill/>
          </a:ln>
        </p:spPr>
      </p:pic>
      <p:sp>
        <p:nvSpPr>
          <p:cNvPr id="132" name="Google Shape;132;p3"/>
          <p:cNvSpPr/>
          <p:nvPr/>
        </p:nvSpPr>
        <p:spPr>
          <a:xfrm>
            <a:off x="7452360" y="4498848"/>
            <a:ext cx="4023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50"/>
              <a:buFont typeface="Calibri"/>
              <a:buNone/>
            </a:pPr>
            <a:r>
              <a:rPr b="1" i="0" lang="en-US" sz="1350" u="none" cap="none" strike="noStrike">
                <a:solidFill>
                  <a:srgbClr val="0B1F3A"/>
                </a:solidFill>
                <a:latin typeface="Calibri"/>
                <a:ea typeface="Calibri"/>
                <a:cs typeface="Calibri"/>
                <a:sym typeface="Calibri"/>
              </a:rPr>
              <a:t>Mode 2 — Gesture Control</a:t>
            </a:r>
            <a:endParaRPr b="0" i="0" sz="1350" u="none" cap="none" strike="noStrike">
              <a:solidFill>
                <a:schemeClr val="dk1"/>
              </a:solidFill>
              <a:latin typeface="Calibri"/>
              <a:ea typeface="Calibri"/>
              <a:cs typeface="Calibri"/>
              <a:sym typeface="Calibri"/>
            </a:endParaRPr>
          </a:p>
        </p:txBody>
      </p:sp>
      <p:sp>
        <p:nvSpPr>
          <p:cNvPr id="133" name="Google Shape;133;p3"/>
          <p:cNvSpPr/>
          <p:nvPr/>
        </p:nvSpPr>
        <p:spPr>
          <a:xfrm>
            <a:off x="7452360" y="4864608"/>
            <a:ext cx="40233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100"/>
              <a:buFont typeface="Calibri"/>
              <a:buNone/>
            </a:pPr>
            <a:r>
              <a:rPr b="0" i="0" lang="en-US" sz="1100" u="none" cap="none" strike="noStrike">
                <a:solidFill>
                  <a:srgbClr val="5B6B82"/>
                </a:solidFill>
                <a:latin typeface="Calibri"/>
                <a:ea typeface="Calibri"/>
                <a:cs typeface="Calibri"/>
                <a:sym typeface="Calibri"/>
              </a:rPr>
              <a:t>Converts hand gestures into real Windows actions instantly</a:t>
            </a:r>
            <a:endParaRPr b="0" i="0" sz="1100" u="none" cap="none" strike="noStrike">
              <a:solidFill>
                <a:schemeClr val="dk1"/>
              </a:solidFill>
              <a:latin typeface="Calibri"/>
              <a:ea typeface="Calibri"/>
              <a:cs typeface="Calibri"/>
              <a:sym typeface="Calibri"/>
            </a:endParaRPr>
          </a:p>
        </p:txBody>
      </p:sp>
      <p:sp>
        <p:nvSpPr>
          <p:cNvPr id="134" name="Google Shape;134;p3"/>
          <p:cNvSpPr/>
          <p:nvPr/>
        </p:nvSpPr>
        <p:spPr>
          <a:xfrm>
            <a:off x="548640" y="5696712"/>
            <a:ext cx="110642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100"/>
              <a:buFont typeface="Calibri"/>
              <a:buNone/>
            </a:pPr>
            <a:r>
              <a:rPr b="0" i="1" lang="en-US" sz="1100" u="none" cap="none" strike="noStrike">
                <a:solidFill>
                  <a:srgbClr val="5B6B82"/>
                </a:solidFill>
                <a:latin typeface="Calibri"/>
                <a:ea typeface="Calibri"/>
                <a:cs typeface="Calibri"/>
                <a:sym typeface="Calibri"/>
              </a:rPr>
              <a:t>Both modes share the same detection pipeline above — only the trained model and final output differ.</a:t>
            </a:r>
            <a:endParaRPr b="0" i="0" sz="1100" u="none" cap="none" strike="noStrike">
              <a:solidFill>
                <a:schemeClr val="dk1"/>
              </a:solidFill>
              <a:latin typeface="Calibri"/>
              <a:ea typeface="Calibri"/>
              <a:cs typeface="Calibri"/>
              <a:sym typeface="Calibri"/>
            </a:endParaRPr>
          </a:p>
        </p:txBody>
      </p:sp>
      <p:sp>
        <p:nvSpPr>
          <p:cNvPr id="135" name="Google Shape;135;p3"/>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PROPOSED SYSTEM &amp; ARCHITECTURE</a:t>
            </a:r>
            <a:endParaRPr b="0" i="0" sz="900" u="none" cap="none" strike="noStrike">
              <a:solidFill>
                <a:schemeClr val="dk1"/>
              </a:solidFill>
              <a:latin typeface="Calibri"/>
              <a:ea typeface="Calibri"/>
              <a:cs typeface="Calibri"/>
              <a:sym typeface="Calibri"/>
            </a:endParaRPr>
          </a:p>
        </p:txBody>
      </p:sp>
      <p:sp>
        <p:nvSpPr>
          <p:cNvPr id="136" name="Google Shape;136;p3"/>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3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141" name="Shape 141"/>
        <p:cNvGrpSpPr/>
        <p:nvPr/>
      </p:nvGrpSpPr>
      <p:grpSpPr>
        <a:xfrm>
          <a:off x="0" y="0"/>
          <a:ext cx="0" cy="0"/>
          <a:chOff x="0" y="0"/>
          <a:chExt cx="0" cy="0"/>
        </a:xfrm>
      </p:grpSpPr>
      <p:sp>
        <p:nvSpPr>
          <p:cNvPr id="142" name="Google Shape;142;p4"/>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TECH STACK</a:t>
            </a:r>
            <a:endParaRPr b="0" i="0" sz="1200" u="none" cap="none" strike="noStrike">
              <a:solidFill>
                <a:schemeClr val="dk1"/>
              </a:solidFill>
              <a:latin typeface="Calibri"/>
              <a:ea typeface="Calibri"/>
              <a:cs typeface="Calibri"/>
              <a:sym typeface="Calibri"/>
            </a:endParaRPr>
          </a:p>
        </p:txBody>
      </p:sp>
      <p:sp>
        <p:nvSpPr>
          <p:cNvPr id="143" name="Google Shape;143;p4"/>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Technologies &amp; Tools Used</a:t>
            </a:r>
            <a:endParaRPr b="0" i="0" sz="3000" u="none" cap="none" strike="noStrike">
              <a:solidFill>
                <a:schemeClr val="dk1"/>
              </a:solidFill>
              <a:latin typeface="Calibri"/>
              <a:ea typeface="Calibri"/>
              <a:cs typeface="Calibri"/>
              <a:sym typeface="Calibri"/>
            </a:endParaRPr>
          </a:p>
        </p:txBody>
      </p:sp>
      <p:sp>
        <p:nvSpPr>
          <p:cNvPr id="144" name="Google Shape;144;p4"/>
          <p:cNvSpPr/>
          <p:nvPr/>
        </p:nvSpPr>
        <p:spPr>
          <a:xfrm>
            <a:off x="548640" y="146304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713232" y="162763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ode_navy.png" id="146" name="Google Shape;146;p4"/>
          <p:cNvPicPr preferRelativeResize="0"/>
          <p:nvPr/>
        </p:nvPicPr>
        <p:blipFill rotWithShape="1">
          <a:blip r:embed="rId3">
            <a:alphaModFix/>
          </a:blip>
          <a:srcRect b="0" l="0" r="0" t="0"/>
          <a:stretch/>
        </p:blipFill>
        <p:spPr>
          <a:xfrm>
            <a:off x="822960" y="1737360"/>
            <a:ext cx="237744" cy="237744"/>
          </a:xfrm>
          <a:prstGeom prst="rect">
            <a:avLst/>
          </a:prstGeom>
          <a:noFill/>
          <a:ln>
            <a:noFill/>
          </a:ln>
        </p:spPr>
      </p:pic>
      <p:sp>
        <p:nvSpPr>
          <p:cNvPr id="147" name="Google Shape;147;p4"/>
          <p:cNvSpPr/>
          <p:nvPr/>
        </p:nvSpPr>
        <p:spPr>
          <a:xfrm>
            <a:off x="1280160" y="160934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Python</a:t>
            </a:r>
            <a:endParaRPr b="0" i="0" sz="1300" u="none" cap="none" strike="noStrike">
              <a:solidFill>
                <a:schemeClr val="dk1"/>
              </a:solidFill>
              <a:latin typeface="Calibri"/>
              <a:ea typeface="Calibri"/>
              <a:cs typeface="Calibri"/>
              <a:sym typeface="Calibri"/>
            </a:endParaRPr>
          </a:p>
        </p:txBody>
      </p:sp>
      <p:sp>
        <p:nvSpPr>
          <p:cNvPr id="148" name="Google Shape;148;p4"/>
          <p:cNvSpPr/>
          <p:nvPr/>
        </p:nvSpPr>
        <p:spPr>
          <a:xfrm>
            <a:off x="713232" y="217627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Core programming language</a:t>
            </a:r>
            <a:endParaRPr b="0" i="0" sz="1000" u="none" cap="none" strike="noStrike">
              <a:solidFill>
                <a:schemeClr val="dk1"/>
              </a:solidFill>
              <a:latin typeface="Calibri"/>
              <a:ea typeface="Calibri"/>
              <a:cs typeface="Calibri"/>
              <a:sym typeface="Calibri"/>
            </a:endParaRPr>
          </a:p>
        </p:txBody>
      </p:sp>
      <p:sp>
        <p:nvSpPr>
          <p:cNvPr id="149" name="Google Shape;149;p4"/>
          <p:cNvSpPr/>
          <p:nvPr/>
        </p:nvSpPr>
        <p:spPr>
          <a:xfrm>
            <a:off x="3383280" y="146304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3547872" y="162763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amera_navy.png" id="151" name="Google Shape;151;p4"/>
          <p:cNvPicPr preferRelativeResize="0"/>
          <p:nvPr/>
        </p:nvPicPr>
        <p:blipFill rotWithShape="1">
          <a:blip r:embed="rId4">
            <a:alphaModFix/>
          </a:blip>
          <a:srcRect b="0" l="0" r="0" t="0"/>
          <a:stretch/>
        </p:blipFill>
        <p:spPr>
          <a:xfrm>
            <a:off x="3657600" y="1737360"/>
            <a:ext cx="237744" cy="237744"/>
          </a:xfrm>
          <a:prstGeom prst="rect">
            <a:avLst/>
          </a:prstGeom>
          <a:noFill/>
          <a:ln>
            <a:noFill/>
          </a:ln>
        </p:spPr>
      </p:pic>
      <p:sp>
        <p:nvSpPr>
          <p:cNvPr id="152" name="Google Shape;152;p4"/>
          <p:cNvSpPr/>
          <p:nvPr/>
        </p:nvSpPr>
        <p:spPr>
          <a:xfrm>
            <a:off x="4114800" y="160934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OpenCV</a:t>
            </a:r>
            <a:endParaRPr b="0" i="0" sz="1300" u="none" cap="none" strike="noStrike">
              <a:solidFill>
                <a:schemeClr val="dk1"/>
              </a:solidFill>
              <a:latin typeface="Calibri"/>
              <a:ea typeface="Calibri"/>
              <a:cs typeface="Calibri"/>
              <a:sym typeface="Calibri"/>
            </a:endParaRPr>
          </a:p>
        </p:txBody>
      </p:sp>
      <p:sp>
        <p:nvSpPr>
          <p:cNvPr id="153" name="Google Shape;153;p4"/>
          <p:cNvSpPr/>
          <p:nvPr/>
        </p:nvSpPr>
        <p:spPr>
          <a:xfrm>
            <a:off x="3547872" y="217627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Video capture &amp; image handling</a:t>
            </a:r>
            <a:endParaRPr b="0" i="0" sz="1000" u="none" cap="none" strike="noStrike">
              <a:solidFill>
                <a:schemeClr val="dk1"/>
              </a:solidFill>
              <a:latin typeface="Calibri"/>
              <a:ea typeface="Calibri"/>
              <a:cs typeface="Calibri"/>
              <a:sym typeface="Calibri"/>
            </a:endParaRPr>
          </a:p>
        </p:txBody>
      </p:sp>
      <p:sp>
        <p:nvSpPr>
          <p:cNvPr id="154" name="Google Shape;154;p4"/>
          <p:cNvSpPr/>
          <p:nvPr/>
        </p:nvSpPr>
        <p:spPr>
          <a:xfrm>
            <a:off x="6217920" y="1463040"/>
            <a:ext cx="2697480" cy="1481328"/>
          </a:xfrm>
          <a:prstGeom prst="roundRect">
            <a:avLst>
              <a:gd fmla="val 5556" name="adj"/>
            </a:avLst>
          </a:prstGeom>
          <a:solidFill>
            <a:srgbClr val="0B1F3A"/>
          </a:solidFill>
          <a:ln cap="flat" cmpd="sng" w="12700">
            <a:solidFill>
              <a:srgbClr val="0B1F3A"/>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6382512" y="1627632"/>
            <a:ext cx="457200" cy="4572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_cyan.png" id="156" name="Google Shape;156;p4"/>
          <p:cNvPicPr preferRelativeResize="0"/>
          <p:nvPr/>
        </p:nvPicPr>
        <p:blipFill rotWithShape="1">
          <a:blip r:embed="rId5">
            <a:alphaModFix/>
          </a:blip>
          <a:srcRect b="0" l="0" r="0" t="0"/>
          <a:stretch/>
        </p:blipFill>
        <p:spPr>
          <a:xfrm>
            <a:off x="6492240" y="1737360"/>
            <a:ext cx="237744" cy="237744"/>
          </a:xfrm>
          <a:prstGeom prst="rect">
            <a:avLst/>
          </a:prstGeom>
          <a:noFill/>
          <a:ln>
            <a:noFill/>
          </a:ln>
        </p:spPr>
      </p:pic>
      <p:sp>
        <p:nvSpPr>
          <p:cNvPr id="157" name="Google Shape;157;p4"/>
          <p:cNvSpPr/>
          <p:nvPr/>
        </p:nvSpPr>
        <p:spPr>
          <a:xfrm>
            <a:off x="6949440" y="160934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MediaPipe</a:t>
            </a:r>
            <a:endParaRPr b="0" i="0" sz="1300" u="none" cap="none" strike="noStrike">
              <a:solidFill>
                <a:schemeClr val="dk1"/>
              </a:solidFill>
              <a:latin typeface="Calibri"/>
              <a:ea typeface="Calibri"/>
              <a:cs typeface="Calibri"/>
              <a:sym typeface="Calibri"/>
            </a:endParaRPr>
          </a:p>
        </p:txBody>
      </p:sp>
      <p:sp>
        <p:nvSpPr>
          <p:cNvPr id="158" name="Google Shape;158;p4"/>
          <p:cNvSpPr/>
          <p:nvPr/>
        </p:nvSpPr>
        <p:spPr>
          <a:xfrm>
            <a:off x="6382512" y="217627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BD6E8"/>
              </a:buClr>
              <a:buSzPts val="1000"/>
              <a:buFont typeface="Calibri"/>
              <a:buNone/>
            </a:pPr>
            <a:r>
              <a:rPr b="0" i="0" lang="en-US" sz="1000" u="none" cap="none" strike="noStrike">
                <a:solidFill>
                  <a:srgbClr val="BBD6E8"/>
                </a:solidFill>
                <a:latin typeface="Calibri"/>
                <a:ea typeface="Calibri"/>
                <a:cs typeface="Calibri"/>
                <a:sym typeface="Calibri"/>
              </a:rPr>
              <a:t>Real-time hand landmark detection</a:t>
            </a:r>
            <a:endParaRPr b="0" i="0" sz="1000" u="none" cap="none" strike="noStrike">
              <a:solidFill>
                <a:schemeClr val="dk1"/>
              </a:solidFill>
              <a:latin typeface="Calibri"/>
              <a:ea typeface="Calibri"/>
              <a:cs typeface="Calibri"/>
              <a:sym typeface="Calibri"/>
            </a:endParaRPr>
          </a:p>
        </p:txBody>
      </p:sp>
      <p:sp>
        <p:nvSpPr>
          <p:cNvPr id="159" name="Google Shape;159;p4"/>
          <p:cNvSpPr/>
          <p:nvPr/>
        </p:nvSpPr>
        <p:spPr>
          <a:xfrm>
            <a:off x="9052560" y="146304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9217152" y="162763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layers_navy.png" id="161" name="Google Shape;161;p4"/>
          <p:cNvPicPr preferRelativeResize="0"/>
          <p:nvPr/>
        </p:nvPicPr>
        <p:blipFill rotWithShape="1">
          <a:blip r:embed="rId6">
            <a:alphaModFix/>
          </a:blip>
          <a:srcRect b="0" l="0" r="0" t="0"/>
          <a:stretch/>
        </p:blipFill>
        <p:spPr>
          <a:xfrm>
            <a:off x="9326880" y="1737360"/>
            <a:ext cx="237744" cy="237744"/>
          </a:xfrm>
          <a:prstGeom prst="rect">
            <a:avLst/>
          </a:prstGeom>
          <a:noFill/>
          <a:ln>
            <a:noFill/>
          </a:ln>
        </p:spPr>
      </p:pic>
      <p:sp>
        <p:nvSpPr>
          <p:cNvPr id="162" name="Google Shape;162;p4"/>
          <p:cNvSpPr/>
          <p:nvPr/>
        </p:nvSpPr>
        <p:spPr>
          <a:xfrm>
            <a:off x="9784080" y="160934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NumPy</a:t>
            </a:r>
            <a:endParaRPr b="0" i="0" sz="1300" u="none" cap="none" strike="noStrike">
              <a:solidFill>
                <a:schemeClr val="dk1"/>
              </a:solidFill>
              <a:latin typeface="Calibri"/>
              <a:ea typeface="Calibri"/>
              <a:cs typeface="Calibri"/>
              <a:sym typeface="Calibri"/>
            </a:endParaRPr>
          </a:p>
        </p:txBody>
      </p:sp>
      <p:sp>
        <p:nvSpPr>
          <p:cNvPr id="163" name="Google Shape;163;p4"/>
          <p:cNvSpPr/>
          <p:nvPr/>
        </p:nvSpPr>
        <p:spPr>
          <a:xfrm>
            <a:off x="9217152" y="217627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Numerical feature computation</a:t>
            </a:r>
            <a:endParaRPr b="0" i="0" sz="1000" u="none" cap="none" strike="noStrike">
              <a:solidFill>
                <a:schemeClr val="dk1"/>
              </a:solidFill>
              <a:latin typeface="Calibri"/>
              <a:ea typeface="Calibri"/>
              <a:cs typeface="Calibri"/>
              <a:sym typeface="Calibri"/>
            </a:endParaRPr>
          </a:p>
        </p:txBody>
      </p:sp>
      <p:sp>
        <p:nvSpPr>
          <p:cNvPr id="164" name="Google Shape;164;p4"/>
          <p:cNvSpPr/>
          <p:nvPr/>
        </p:nvSpPr>
        <p:spPr>
          <a:xfrm>
            <a:off x="548640" y="310896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p:nvPr/>
        </p:nvSpPr>
        <p:spPr>
          <a:xfrm>
            <a:off x="713232" y="327355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database_navy.png" id="166" name="Google Shape;166;p4"/>
          <p:cNvPicPr preferRelativeResize="0"/>
          <p:nvPr/>
        </p:nvPicPr>
        <p:blipFill rotWithShape="1">
          <a:blip r:embed="rId7">
            <a:alphaModFix/>
          </a:blip>
          <a:srcRect b="0" l="0" r="0" t="0"/>
          <a:stretch/>
        </p:blipFill>
        <p:spPr>
          <a:xfrm>
            <a:off x="822960" y="3383280"/>
            <a:ext cx="237744" cy="237744"/>
          </a:xfrm>
          <a:prstGeom prst="rect">
            <a:avLst/>
          </a:prstGeom>
          <a:noFill/>
          <a:ln>
            <a:noFill/>
          </a:ln>
        </p:spPr>
      </p:pic>
      <p:sp>
        <p:nvSpPr>
          <p:cNvPr id="167" name="Google Shape;167;p4"/>
          <p:cNvSpPr/>
          <p:nvPr/>
        </p:nvSpPr>
        <p:spPr>
          <a:xfrm>
            <a:off x="1280160" y="325526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Pandas</a:t>
            </a:r>
            <a:endParaRPr b="0" i="0" sz="1300" u="none" cap="none" strike="noStrike">
              <a:solidFill>
                <a:schemeClr val="dk1"/>
              </a:solidFill>
              <a:latin typeface="Calibri"/>
              <a:ea typeface="Calibri"/>
              <a:cs typeface="Calibri"/>
              <a:sym typeface="Calibri"/>
            </a:endParaRPr>
          </a:p>
        </p:txBody>
      </p:sp>
      <p:sp>
        <p:nvSpPr>
          <p:cNvPr id="168" name="Google Shape;168;p4"/>
          <p:cNvSpPr/>
          <p:nvPr/>
        </p:nvSpPr>
        <p:spPr>
          <a:xfrm>
            <a:off x="713232" y="382219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Dataset handling &amp; structuring</a:t>
            </a:r>
            <a:endParaRPr b="0" i="0" sz="1000" u="none" cap="none" strike="noStrike">
              <a:solidFill>
                <a:schemeClr val="dk1"/>
              </a:solidFill>
              <a:latin typeface="Calibri"/>
              <a:ea typeface="Calibri"/>
              <a:cs typeface="Calibri"/>
              <a:sym typeface="Calibri"/>
            </a:endParaRPr>
          </a:p>
        </p:txBody>
      </p:sp>
      <p:sp>
        <p:nvSpPr>
          <p:cNvPr id="169" name="Google Shape;169;p4"/>
          <p:cNvSpPr/>
          <p:nvPr/>
        </p:nvSpPr>
        <p:spPr>
          <a:xfrm>
            <a:off x="3383280" y="310896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3547872" y="327355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ogs_navy.png" id="171" name="Google Shape;171;p4"/>
          <p:cNvPicPr preferRelativeResize="0"/>
          <p:nvPr/>
        </p:nvPicPr>
        <p:blipFill rotWithShape="1">
          <a:blip r:embed="rId8">
            <a:alphaModFix/>
          </a:blip>
          <a:srcRect b="0" l="0" r="0" t="0"/>
          <a:stretch/>
        </p:blipFill>
        <p:spPr>
          <a:xfrm>
            <a:off x="3657600" y="3383280"/>
            <a:ext cx="237744" cy="237744"/>
          </a:xfrm>
          <a:prstGeom prst="rect">
            <a:avLst/>
          </a:prstGeom>
          <a:noFill/>
          <a:ln>
            <a:noFill/>
          </a:ln>
        </p:spPr>
      </p:pic>
      <p:sp>
        <p:nvSpPr>
          <p:cNvPr id="172" name="Google Shape;172;p4"/>
          <p:cNvSpPr/>
          <p:nvPr/>
        </p:nvSpPr>
        <p:spPr>
          <a:xfrm>
            <a:off x="4114800" y="325526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Scikit-learn</a:t>
            </a:r>
            <a:endParaRPr b="0" i="0" sz="1300" u="none" cap="none" strike="noStrike">
              <a:solidFill>
                <a:schemeClr val="dk1"/>
              </a:solidFill>
              <a:latin typeface="Calibri"/>
              <a:ea typeface="Calibri"/>
              <a:cs typeface="Calibri"/>
              <a:sym typeface="Calibri"/>
            </a:endParaRPr>
          </a:p>
        </p:txBody>
      </p:sp>
      <p:sp>
        <p:nvSpPr>
          <p:cNvPr id="173" name="Google Shape;173;p4"/>
          <p:cNvSpPr/>
          <p:nvPr/>
        </p:nvSpPr>
        <p:spPr>
          <a:xfrm>
            <a:off x="3547872" y="382219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ML training utilities</a:t>
            </a:r>
            <a:endParaRPr b="0" i="0" sz="1000" u="none" cap="none" strike="noStrike">
              <a:solidFill>
                <a:schemeClr val="dk1"/>
              </a:solidFill>
              <a:latin typeface="Calibri"/>
              <a:ea typeface="Calibri"/>
              <a:cs typeface="Calibri"/>
              <a:sym typeface="Calibri"/>
            </a:endParaRPr>
          </a:p>
        </p:txBody>
      </p:sp>
      <p:sp>
        <p:nvSpPr>
          <p:cNvPr id="174" name="Google Shape;174;p4"/>
          <p:cNvSpPr/>
          <p:nvPr/>
        </p:nvSpPr>
        <p:spPr>
          <a:xfrm>
            <a:off x="6217920" y="3108960"/>
            <a:ext cx="2697480" cy="1481328"/>
          </a:xfrm>
          <a:prstGeom prst="roundRect">
            <a:avLst>
              <a:gd fmla="val 5556" name="adj"/>
            </a:avLst>
          </a:prstGeom>
          <a:solidFill>
            <a:srgbClr val="0B1F3A"/>
          </a:solidFill>
          <a:ln cap="flat" cmpd="sng" w="12700">
            <a:solidFill>
              <a:srgbClr val="0B1F3A"/>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
          <p:cNvSpPr/>
          <p:nvPr/>
        </p:nvSpPr>
        <p:spPr>
          <a:xfrm>
            <a:off x="6382512" y="3273552"/>
            <a:ext cx="457200" cy="4572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tree_cyan.png" id="176" name="Google Shape;176;p4"/>
          <p:cNvPicPr preferRelativeResize="0"/>
          <p:nvPr/>
        </p:nvPicPr>
        <p:blipFill rotWithShape="1">
          <a:blip r:embed="rId9">
            <a:alphaModFix/>
          </a:blip>
          <a:srcRect b="0" l="0" r="0" t="0"/>
          <a:stretch/>
        </p:blipFill>
        <p:spPr>
          <a:xfrm>
            <a:off x="6492240" y="3383280"/>
            <a:ext cx="237744" cy="237744"/>
          </a:xfrm>
          <a:prstGeom prst="rect">
            <a:avLst/>
          </a:prstGeom>
          <a:noFill/>
          <a:ln>
            <a:noFill/>
          </a:ln>
        </p:spPr>
      </p:pic>
      <p:sp>
        <p:nvSpPr>
          <p:cNvPr id="177" name="Google Shape;177;p4"/>
          <p:cNvSpPr/>
          <p:nvPr/>
        </p:nvSpPr>
        <p:spPr>
          <a:xfrm>
            <a:off x="6949440" y="325526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Random Forest</a:t>
            </a:r>
            <a:endParaRPr b="0" i="0" sz="1300" u="none" cap="none" strike="noStrike">
              <a:solidFill>
                <a:schemeClr val="dk1"/>
              </a:solidFill>
              <a:latin typeface="Calibri"/>
              <a:ea typeface="Calibri"/>
              <a:cs typeface="Calibri"/>
              <a:sym typeface="Calibri"/>
            </a:endParaRPr>
          </a:p>
        </p:txBody>
      </p:sp>
      <p:sp>
        <p:nvSpPr>
          <p:cNvPr id="178" name="Google Shape;178;p4"/>
          <p:cNvSpPr/>
          <p:nvPr/>
        </p:nvSpPr>
        <p:spPr>
          <a:xfrm>
            <a:off x="6382512" y="382219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BD6E8"/>
              </a:buClr>
              <a:buSzPts val="1000"/>
              <a:buFont typeface="Calibri"/>
              <a:buNone/>
            </a:pPr>
            <a:r>
              <a:rPr b="0" i="0" lang="en-US" sz="1000" u="none" cap="none" strike="noStrike">
                <a:solidFill>
                  <a:srgbClr val="BBD6E8"/>
                </a:solidFill>
                <a:latin typeface="Calibri"/>
                <a:ea typeface="Calibri"/>
                <a:cs typeface="Calibri"/>
                <a:sym typeface="Calibri"/>
              </a:rPr>
              <a:t>Classification algorithm used</a:t>
            </a:r>
            <a:endParaRPr b="0" i="0" sz="1000" u="none" cap="none" strike="noStrike">
              <a:solidFill>
                <a:schemeClr val="dk1"/>
              </a:solidFill>
              <a:latin typeface="Calibri"/>
              <a:ea typeface="Calibri"/>
              <a:cs typeface="Calibri"/>
              <a:sym typeface="Calibri"/>
            </a:endParaRPr>
          </a:p>
        </p:txBody>
      </p:sp>
      <p:sp>
        <p:nvSpPr>
          <p:cNvPr id="179" name="Google Shape;179;p4"/>
          <p:cNvSpPr/>
          <p:nvPr/>
        </p:nvSpPr>
        <p:spPr>
          <a:xfrm>
            <a:off x="9052560" y="310896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p:nvPr/>
        </p:nvSpPr>
        <p:spPr>
          <a:xfrm>
            <a:off x="9217152" y="327355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save_navy.png" id="181" name="Google Shape;181;p4"/>
          <p:cNvPicPr preferRelativeResize="0"/>
          <p:nvPr/>
        </p:nvPicPr>
        <p:blipFill rotWithShape="1">
          <a:blip r:embed="rId10">
            <a:alphaModFix/>
          </a:blip>
          <a:srcRect b="0" l="0" r="0" t="0"/>
          <a:stretch/>
        </p:blipFill>
        <p:spPr>
          <a:xfrm>
            <a:off x="9326880" y="3383280"/>
            <a:ext cx="237744" cy="237744"/>
          </a:xfrm>
          <a:prstGeom prst="rect">
            <a:avLst/>
          </a:prstGeom>
          <a:noFill/>
          <a:ln>
            <a:noFill/>
          </a:ln>
        </p:spPr>
      </p:pic>
      <p:sp>
        <p:nvSpPr>
          <p:cNvPr id="182" name="Google Shape;182;p4"/>
          <p:cNvSpPr/>
          <p:nvPr/>
        </p:nvSpPr>
        <p:spPr>
          <a:xfrm>
            <a:off x="9784080" y="325526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Joblib</a:t>
            </a:r>
            <a:endParaRPr b="0" i="0" sz="1300" u="none" cap="none" strike="noStrike">
              <a:solidFill>
                <a:schemeClr val="dk1"/>
              </a:solidFill>
              <a:latin typeface="Calibri"/>
              <a:ea typeface="Calibri"/>
              <a:cs typeface="Calibri"/>
              <a:sym typeface="Calibri"/>
            </a:endParaRPr>
          </a:p>
        </p:txBody>
      </p:sp>
      <p:sp>
        <p:nvSpPr>
          <p:cNvPr id="183" name="Google Shape;183;p4"/>
          <p:cNvSpPr/>
          <p:nvPr/>
        </p:nvSpPr>
        <p:spPr>
          <a:xfrm>
            <a:off x="9217152" y="382219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Saving / loading trained models</a:t>
            </a:r>
            <a:endParaRPr b="0" i="0" sz="1000" u="none" cap="none" strike="noStrike">
              <a:solidFill>
                <a:schemeClr val="dk1"/>
              </a:solidFill>
              <a:latin typeface="Calibri"/>
              <a:ea typeface="Calibri"/>
              <a:cs typeface="Calibri"/>
              <a:sym typeface="Calibri"/>
            </a:endParaRPr>
          </a:p>
        </p:txBody>
      </p:sp>
      <p:sp>
        <p:nvSpPr>
          <p:cNvPr id="184" name="Google Shape;184;p4"/>
          <p:cNvSpPr/>
          <p:nvPr/>
        </p:nvSpPr>
        <p:spPr>
          <a:xfrm>
            <a:off x="548640" y="4754880"/>
            <a:ext cx="2697480" cy="1481328"/>
          </a:xfrm>
          <a:prstGeom prst="roundRect">
            <a:avLst>
              <a:gd fmla="val 5556" name="adj"/>
            </a:avLst>
          </a:prstGeom>
          <a:solidFill>
            <a:srgbClr val="0B1F3A"/>
          </a:solidFill>
          <a:ln cap="flat" cmpd="sng" w="12700">
            <a:solidFill>
              <a:srgbClr val="0B1F3A"/>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713232" y="4919472"/>
            <a:ext cx="457200" cy="4572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desktop_cyan.png" id="186" name="Google Shape;186;p4"/>
          <p:cNvPicPr preferRelativeResize="0"/>
          <p:nvPr/>
        </p:nvPicPr>
        <p:blipFill rotWithShape="1">
          <a:blip r:embed="rId11">
            <a:alphaModFix/>
          </a:blip>
          <a:srcRect b="0" l="0" r="0" t="0"/>
          <a:stretch/>
        </p:blipFill>
        <p:spPr>
          <a:xfrm>
            <a:off x="822960" y="5029200"/>
            <a:ext cx="237744" cy="237744"/>
          </a:xfrm>
          <a:prstGeom prst="rect">
            <a:avLst/>
          </a:prstGeom>
          <a:noFill/>
          <a:ln>
            <a:noFill/>
          </a:ln>
        </p:spPr>
      </p:pic>
      <p:sp>
        <p:nvSpPr>
          <p:cNvPr id="187" name="Google Shape;187;p4"/>
          <p:cNvSpPr/>
          <p:nvPr/>
        </p:nvSpPr>
        <p:spPr>
          <a:xfrm>
            <a:off x="1280160" y="490118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Streamlit</a:t>
            </a:r>
            <a:endParaRPr b="0" i="0" sz="1300" u="none" cap="none" strike="noStrike">
              <a:solidFill>
                <a:schemeClr val="dk1"/>
              </a:solidFill>
              <a:latin typeface="Calibri"/>
              <a:ea typeface="Calibri"/>
              <a:cs typeface="Calibri"/>
              <a:sym typeface="Calibri"/>
            </a:endParaRPr>
          </a:p>
        </p:txBody>
      </p:sp>
      <p:sp>
        <p:nvSpPr>
          <p:cNvPr id="188" name="Google Shape;188;p4"/>
          <p:cNvSpPr/>
          <p:nvPr/>
        </p:nvSpPr>
        <p:spPr>
          <a:xfrm>
            <a:off x="713232" y="546811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BD6E8"/>
              </a:buClr>
              <a:buSzPts val="1000"/>
              <a:buFont typeface="Calibri"/>
              <a:buNone/>
            </a:pPr>
            <a:r>
              <a:rPr b="0" i="0" lang="en-US" sz="1000" u="none" cap="none" strike="noStrike">
                <a:solidFill>
                  <a:srgbClr val="BBD6E8"/>
                </a:solidFill>
                <a:latin typeface="Calibri"/>
                <a:ea typeface="Calibri"/>
                <a:cs typeface="Calibri"/>
                <a:sym typeface="Calibri"/>
              </a:rPr>
              <a:t>Interactive web application UI</a:t>
            </a:r>
            <a:endParaRPr b="0" i="0" sz="1000" u="none" cap="none" strike="noStrike">
              <a:solidFill>
                <a:schemeClr val="dk1"/>
              </a:solidFill>
              <a:latin typeface="Calibri"/>
              <a:ea typeface="Calibri"/>
              <a:cs typeface="Calibri"/>
              <a:sym typeface="Calibri"/>
            </a:endParaRPr>
          </a:p>
        </p:txBody>
      </p:sp>
      <p:sp>
        <p:nvSpPr>
          <p:cNvPr id="189" name="Google Shape;189;p4"/>
          <p:cNvSpPr/>
          <p:nvPr/>
        </p:nvSpPr>
        <p:spPr>
          <a:xfrm>
            <a:off x="3383280" y="475488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p:nvPr/>
        </p:nvSpPr>
        <p:spPr>
          <a:xfrm>
            <a:off x="3547872" y="491947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amera_navy.png" id="191" name="Google Shape;191;p4"/>
          <p:cNvPicPr preferRelativeResize="0"/>
          <p:nvPr/>
        </p:nvPicPr>
        <p:blipFill rotWithShape="1">
          <a:blip r:embed="rId4">
            <a:alphaModFix/>
          </a:blip>
          <a:srcRect b="0" l="0" r="0" t="0"/>
          <a:stretch/>
        </p:blipFill>
        <p:spPr>
          <a:xfrm>
            <a:off x="3657600" y="5029200"/>
            <a:ext cx="237744" cy="237744"/>
          </a:xfrm>
          <a:prstGeom prst="rect">
            <a:avLst/>
          </a:prstGeom>
          <a:noFill/>
          <a:ln>
            <a:noFill/>
          </a:ln>
        </p:spPr>
      </p:pic>
      <p:sp>
        <p:nvSpPr>
          <p:cNvPr id="192" name="Google Shape;192;p4"/>
          <p:cNvSpPr/>
          <p:nvPr/>
        </p:nvSpPr>
        <p:spPr>
          <a:xfrm>
            <a:off x="4114800" y="490118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Streamlit-WebRTC</a:t>
            </a:r>
            <a:endParaRPr b="0" i="0" sz="1300" u="none" cap="none" strike="noStrike">
              <a:solidFill>
                <a:schemeClr val="dk1"/>
              </a:solidFill>
              <a:latin typeface="Calibri"/>
              <a:ea typeface="Calibri"/>
              <a:cs typeface="Calibri"/>
              <a:sym typeface="Calibri"/>
            </a:endParaRPr>
          </a:p>
        </p:txBody>
      </p:sp>
      <p:sp>
        <p:nvSpPr>
          <p:cNvPr id="193" name="Google Shape;193;p4"/>
          <p:cNvSpPr/>
          <p:nvPr/>
        </p:nvSpPr>
        <p:spPr>
          <a:xfrm>
            <a:off x="3547872" y="546811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Real-time webcam streaming in browser</a:t>
            </a:r>
            <a:endParaRPr b="0" i="0" sz="1000" u="none" cap="none" strike="noStrike">
              <a:solidFill>
                <a:schemeClr val="dk1"/>
              </a:solidFill>
              <a:latin typeface="Calibri"/>
              <a:ea typeface="Calibri"/>
              <a:cs typeface="Calibri"/>
              <a:sym typeface="Calibri"/>
            </a:endParaRPr>
          </a:p>
        </p:txBody>
      </p:sp>
      <p:sp>
        <p:nvSpPr>
          <p:cNvPr id="194" name="Google Shape;194;p4"/>
          <p:cNvSpPr/>
          <p:nvPr/>
        </p:nvSpPr>
        <p:spPr>
          <a:xfrm>
            <a:off x="6217920" y="4754880"/>
            <a:ext cx="2697480" cy="1481328"/>
          </a:xfrm>
          <a:prstGeom prst="roundRect">
            <a:avLst>
              <a:gd fmla="val 5556"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
          <p:cNvSpPr/>
          <p:nvPr/>
        </p:nvSpPr>
        <p:spPr>
          <a:xfrm>
            <a:off x="6382512" y="4919472"/>
            <a:ext cx="457200" cy="457200"/>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bolt_navy.png" id="196" name="Google Shape;196;p4"/>
          <p:cNvPicPr preferRelativeResize="0"/>
          <p:nvPr/>
        </p:nvPicPr>
        <p:blipFill rotWithShape="1">
          <a:blip r:embed="rId12">
            <a:alphaModFix/>
          </a:blip>
          <a:srcRect b="0" l="0" r="0" t="0"/>
          <a:stretch/>
        </p:blipFill>
        <p:spPr>
          <a:xfrm>
            <a:off x="6492240" y="5029200"/>
            <a:ext cx="237744" cy="237744"/>
          </a:xfrm>
          <a:prstGeom prst="rect">
            <a:avLst/>
          </a:prstGeom>
          <a:noFill/>
          <a:ln>
            <a:noFill/>
          </a:ln>
        </p:spPr>
      </p:pic>
      <p:sp>
        <p:nvSpPr>
          <p:cNvPr id="197" name="Google Shape;197;p4"/>
          <p:cNvSpPr/>
          <p:nvPr/>
        </p:nvSpPr>
        <p:spPr>
          <a:xfrm>
            <a:off x="6949440" y="490118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300"/>
              <a:buFont typeface="Calibri"/>
              <a:buNone/>
            </a:pPr>
            <a:r>
              <a:rPr b="1" i="0" lang="en-US" sz="1300" u="none" cap="none" strike="noStrike">
                <a:solidFill>
                  <a:srgbClr val="16233B"/>
                </a:solidFill>
                <a:latin typeface="Calibri"/>
                <a:ea typeface="Calibri"/>
                <a:cs typeface="Calibri"/>
                <a:sym typeface="Calibri"/>
              </a:rPr>
              <a:t>PyAV</a:t>
            </a:r>
            <a:endParaRPr b="0" i="0" sz="1300" u="none" cap="none" strike="noStrike">
              <a:solidFill>
                <a:schemeClr val="dk1"/>
              </a:solidFill>
              <a:latin typeface="Calibri"/>
              <a:ea typeface="Calibri"/>
              <a:cs typeface="Calibri"/>
              <a:sym typeface="Calibri"/>
            </a:endParaRPr>
          </a:p>
        </p:txBody>
      </p:sp>
      <p:sp>
        <p:nvSpPr>
          <p:cNvPr id="198" name="Google Shape;198;p4"/>
          <p:cNvSpPr/>
          <p:nvPr/>
        </p:nvSpPr>
        <p:spPr>
          <a:xfrm>
            <a:off x="6382512" y="546811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Audio/video stream processing</a:t>
            </a:r>
            <a:endParaRPr b="0" i="0" sz="1000" u="none" cap="none" strike="noStrike">
              <a:solidFill>
                <a:schemeClr val="dk1"/>
              </a:solidFill>
              <a:latin typeface="Calibri"/>
              <a:ea typeface="Calibri"/>
              <a:cs typeface="Calibri"/>
              <a:sym typeface="Calibri"/>
            </a:endParaRPr>
          </a:p>
        </p:txBody>
      </p:sp>
      <p:sp>
        <p:nvSpPr>
          <p:cNvPr id="199" name="Google Shape;199;p4"/>
          <p:cNvSpPr/>
          <p:nvPr/>
        </p:nvSpPr>
        <p:spPr>
          <a:xfrm>
            <a:off x="9052560" y="4754880"/>
            <a:ext cx="2697480" cy="1481328"/>
          </a:xfrm>
          <a:prstGeom prst="roundRect">
            <a:avLst>
              <a:gd fmla="val 5556" name="adj"/>
            </a:avLst>
          </a:prstGeom>
          <a:solidFill>
            <a:srgbClr val="0B1F3A"/>
          </a:solidFill>
          <a:ln cap="flat" cmpd="sng" w="12700">
            <a:solidFill>
              <a:srgbClr val="0B1F3A"/>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9217152" y="4919472"/>
            <a:ext cx="457200" cy="4572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windows_cyan.png" id="201" name="Google Shape;201;p4"/>
          <p:cNvPicPr preferRelativeResize="0"/>
          <p:nvPr/>
        </p:nvPicPr>
        <p:blipFill rotWithShape="1">
          <a:blip r:embed="rId13">
            <a:alphaModFix/>
          </a:blip>
          <a:srcRect b="0" l="0" r="0" t="0"/>
          <a:stretch/>
        </p:blipFill>
        <p:spPr>
          <a:xfrm>
            <a:off x="9326880" y="5029200"/>
            <a:ext cx="237744" cy="237744"/>
          </a:xfrm>
          <a:prstGeom prst="rect">
            <a:avLst/>
          </a:prstGeom>
          <a:noFill/>
          <a:ln>
            <a:noFill/>
          </a:ln>
        </p:spPr>
      </p:pic>
      <p:sp>
        <p:nvSpPr>
          <p:cNvPr id="202" name="Google Shape;202;p4"/>
          <p:cNvSpPr/>
          <p:nvPr/>
        </p:nvSpPr>
        <p:spPr>
          <a:xfrm>
            <a:off x="9784080" y="4901184"/>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Windows API / ctypes</a:t>
            </a:r>
            <a:endParaRPr b="0" i="0" sz="1300" u="none" cap="none" strike="noStrike">
              <a:solidFill>
                <a:schemeClr val="dk1"/>
              </a:solidFill>
              <a:latin typeface="Calibri"/>
              <a:ea typeface="Calibri"/>
              <a:cs typeface="Calibri"/>
              <a:sym typeface="Calibri"/>
            </a:endParaRPr>
          </a:p>
        </p:txBody>
      </p:sp>
      <p:sp>
        <p:nvSpPr>
          <p:cNvPr id="203" name="Google Shape;203;p4"/>
          <p:cNvSpPr/>
          <p:nvPr/>
        </p:nvSpPr>
        <p:spPr>
          <a:xfrm>
            <a:off x="9217152" y="5468112"/>
            <a:ext cx="2368296"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BD6E8"/>
              </a:buClr>
              <a:buSzPts val="1000"/>
              <a:buFont typeface="Calibri"/>
              <a:buNone/>
            </a:pPr>
            <a:r>
              <a:rPr b="0" i="0" lang="en-US" sz="1000" u="none" cap="none" strike="noStrike">
                <a:solidFill>
                  <a:srgbClr val="BBD6E8"/>
                </a:solidFill>
                <a:latin typeface="Calibri"/>
                <a:ea typeface="Calibri"/>
                <a:cs typeface="Calibri"/>
                <a:sym typeface="Calibri"/>
              </a:rPr>
              <a:t>Sending real keypress/volume actions</a:t>
            </a:r>
            <a:endParaRPr b="0" i="0" sz="1000" u="none" cap="none" strike="noStrike">
              <a:solidFill>
                <a:schemeClr val="dk1"/>
              </a:solidFill>
              <a:latin typeface="Calibri"/>
              <a:ea typeface="Calibri"/>
              <a:cs typeface="Calibri"/>
              <a:sym typeface="Calibri"/>
            </a:endParaRPr>
          </a:p>
        </p:txBody>
      </p:sp>
      <p:sp>
        <p:nvSpPr>
          <p:cNvPr id="204" name="Google Shape;204;p4"/>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TECHNOLOGIES &amp; TOOLS USED</a:t>
            </a:r>
            <a:endParaRPr b="0" i="0" sz="900" u="none" cap="none" strike="noStrike">
              <a:solidFill>
                <a:schemeClr val="dk1"/>
              </a:solidFill>
              <a:latin typeface="Calibri"/>
              <a:ea typeface="Calibri"/>
              <a:cs typeface="Calibri"/>
              <a:sym typeface="Calibri"/>
            </a:endParaRPr>
          </a:p>
        </p:txBody>
      </p:sp>
      <p:sp>
        <p:nvSpPr>
          <p:cNvPr id="205" name="Google Shape;205;p4"/>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4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210" name="Shape 210"/>
        <p:cNvGrpSpPr/>
        <p:nvPr/>
      </p:nvGrpSpPr>
      <p:grpSpPr>
        <a:xfrm>
          <a:off x="0" y="0"/>
          <a:ext cx="0" cy="0"/>
          <a:chOff x="0" y="0"/>
          <a:chExt cx="0" cy="0"/>
        </a:xfrm>
      </p:grpSpPr>
      <p:sp>
        <p:nvSpPr>
          <p:cNvPr id="211" name="Google Shape;211;p5"/>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UNDER THE HOOD</a:t>
            </a:r>
            <a:endParaRPr b="0" i="0" sz="1200" u="none" cap="none" strike="noStrike">
              <a:solidFill>
                <a:schemeClr val="dk1"/>
              </a:solidFill>
              <a:latin typeface="Calibri"/>
              <a:ea typeface="Calibri"/>
              <a:cs typeface="Calibri"/>
              <a:sym typeface="Calibri"/>
            </a:endParaRPr>
          </a:p>
        </p:txBody>
      </p:sp>
      <p:sp>
        <p:nvSpPr>
          <p:cNvPr id="212" name="Google Shape;212;p5"/>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Data Processing &amp; Machine Learning</a:t>
            </a:r>
            <a:endParaRPr b="0" i="0" sz="3000" u="none" cap="none" strike="noStrike">
              <a:solidFill>
                <a:schemeClr val="dk1"/>
              </a:solidFill>
              <a:latin typeface="Calibri"/>
              <a:ea typeface="Calibri"/>
              <a:cs typeface="Calibri"/>
              <a:sym typeface="Calibri"/>
            </a:endParaRPr>
          </a:p>
        </p:txBody>
      </p:sp>
      <p:sp>
        <p:nvSpPr>
          <p:cNvPr id="213" name="Google Shape;213;p5"/>
          <p:cNvSpPr/>
          <p:nvPr/>
        </p:nvSpPr>
        <p:spPr>
          <a:xfrm>
            <a:off x="548640" y="1417320"/>
            <a:ext cx="6309360" cy="4892040"/>
          </a:xfrm>
          <a:prstGeom prst="roundRect">
            <a:avLst>
              <a:gd fmla="val 1682"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868680" y="1627632"/>
            <a:ext cx="5669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00"/>
              <a:buFont typeface="Calibri"/>
              <a:buNone/>
            </a:pPr>
            <a:r>
              <a:rPr b="1" i="0" lang="en-US" sz="1300" u="none" cap="none" strike="noStrike">
                <a:solidFill>
                  <a:srgbClr val="0B1F3A"/>
                </a:solidFill>
                <a:latin typeface="Calibri"/>
                <a:ea typeface="Calibri"/>
                <a:cs typeface="Calibri"/>
                <a:sym typeface="Calibri"/>
              </a:rPr>
              <a:t>FROM HAND TO FEATURES</a:t>
            </a:r>
            <a:endParaRPr b="0" i="0" sz="1300" u="none" cap="none" strike="noStrike">
              <a:solidFill>
                <a:schemeClr val="dk1"/>
              </a:solidFill>
              <a:latin typeface="Calibri"/>
              <a:ea typeface="Calibri"/>
              <a:cs typeface="Calibri"/>
              <a:sym typeface="Calibri"/>
            </a:endParaRPr>
          </a:p>
        </p:txBody>
      </p:sp>
      <p:sp>
        <p:nvSpPr>
          <p:cNvPr id="215" name="Google Shape;215;p5"/>
          <p:cNvSpPr/>
          <p:nvPr/>
        </p:nvSpPr>
        <p:spPr>
          <a:xfrm>
            <a:off x="896112" y="2039112"/>
            <a:ext cx="219456" cy="21945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896112" y="2039112"/>
            <a:ext cx="219456"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a:t>
            </a:r>
            <a:endParaRPr b="0" i="0" sz="950" u="none" cap="none" strike="noStrike">
              <a:solidFill>
                <a:schemeClr val="dk1"/>
              </a:solidFill>
              <a:latin typeface="Calibri"/>
              <a:ea typeface="Calibri"/>
              <a:cs typeface="Calibri"/>
              <a:sym typeface="Calibri"/>
            </a:endParaRPr>
          </a:p>
        </p:txBody>
      </p:sp>
      <p:sp>
        <p:nvSpPr>
          <p:cNvPr id="217" name="Google Shape;217;p5"/>
          <p:cNvSpPr/>
          <p:nvPr/>
        </p:nvSpPr>
        <p:spPr>
          <a:xfrm>
            <a:off x="1261872" y="1956816"/>
            <a:ext cx="5394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250"/>
              <a:buFont typeface="Calibri"/>
              <a:buNone/>
            </a:pPr>
            <a:r>
              <a:rPr b="1" i="0" lang="en-US" sz="1250" u="none" cap="none" strike="noStrike">
                <a:solidFill>
                  <a:srgbClr val="16233B"/>
                </a:solidFill>
                <a:latin typeface="Calibri"/>
                <a:ea typeface="Calibri"/>
                <a:cs typeface="Calibri"/>
                <a:sym typeface="Calibri"/>
              </a:rPr>
              <a:t>Landmark Extraction</a:t>
            </a:r>
            <a:endParaRPr b="0" i="0" sz="1250" u="none" cap="none" strike="noStrike">
              <a:solidFill>
                <a:schemeClr val="dk1"/>
              </a:solidFill>
              <a:latin typeface="Calibri"/>
              <a:ea typeface="Calibri"/>
              <a:cs typeface="Calibri"/>
              <a:sym typeface="Calibri"/>
            </a:endParaRPr>
          </a:p>
        </p:txBody>
      </p:sp>
      <p:sp>
        <p:nvSpPr>
          <p:cNvPr id="218" name="Google Shape;218;p5"/>
          <p:cNvSpPr/>
          <p:nvPr/>
        </p:nvSpPr>
        <p:spPr>
          <a:xfrm>
            <a:off x="1261872" y="2203704"/>
            <a:ext cx="54406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MediaPipe detects 21 key points on the hand for every frame.</a:t>
            </a:r>
            <a:endParaRPr b="0" i="0" sz="1000" u="none" cap="none" strike="noStrike">
              <a:solidFill>
                <a:schemeClr val="dk1"/>
              </a:solidFill>
              <a:latin typeface="Calibri"/>
              <a:ea typeface="Calibri"/>
              <a:cs typeface="Calibri"/>
              <a:sym typeface="Calibri"/>
            </a:endParaRPr>
          </a:p>
        </p:txBody>
      </p:sp>
      <p:sp>
        <p:nvSpPr>
          <p:cNvPr id="219" name="Google Shape;219;p5"/>
          <p:cNvSpPr/>
          <p:nvPr/>
        </p:nvSpPr>
        <p:spPr>
          <a:xfrm>
            <a:off x="896112" y="2724912"/>
            <a:ext cx="219456" cy="21945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896112" y="2724912"/>
            <a:ext cx="219456"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
        <p:nvSpPr>
          <p:cNvPr id="221" name="Google Shape;221;p5"/>
          <p:cNvSpPr/>
          <p:nvPr/>
        </p:nvSpPr>
        <p:spPr>
          <a:xfrm>
            <a:off x="1261872" y="2642616"/>
            <a:ext cx="5394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250"/>
              <a:buFont typeface="Calibri"/>
              <a:buNone/>
            </a:pPr>
            <a:r>
              <a:rPr b="1" i="0" lang="en-US" sz="1250" u="none" cap="none" strike="noStrike">
                <a:solidFill>
                  <a:srgbClr val="16233B"/>
                </a:solidFill>
                <a:latin typeface="Calibri"/>
                <a:ea typeface="Calibri"/>
                <a:cs typeface="Calibri"/>
                <a:sym typeface="Calibri"/>
              </a:rPr>
              <a:t>21 Landmarks × (x, y, z)</a:t>
            </a:r>
            <a:endParaRPr b="0" i="0" sz="1250" u="none" cap="none" strike="noStrike">
              <a:solidFill>
                <a:schemeClr val="dk1"/>
              </a:solidFill>
              <a:latin typeface="Calibri"/>
              <a:ea typeface="Calibri"/>
              <a:cs typeface="Calibri"/>
              <a:sym typeface="Calibri"/>
            </a:endParaRPr>
          </a:p>
        </p:txBody>
      </p:sp>
      <p:sp>
        <p:nvSpPr>
          <p:cNvPr id="222" name="Google Shape;222;p5"/>
          <p:cNvSpPr/>
          <p:nvPr/>
        </p:nvSpPr>
        <p:spPr>
          <a:xfrm>
            <a:off x="1261872" y="2889504"/>
            <a:ext cx="54406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Each of the 21 points has 3 coordinates — 21 × 3 = 63 features.</a:t>
            </a:r>
            <a:endParaRPr b="0" i="0" sz="1000" u="none" cap="none" strike="noStrike">
              <a:solidFill>
                <a:schemeClr val="dk1"/>
              </a:solidFill>
              <a:latin typeface="Calibri"/>
              <a:ea typeface="Calibri"/>
              <a:cs typeface="Calibri"/>
              <a:sym typeface="Calibri"/>
            </a:endParaRPr>
          </a:p>
        </p:txBody>
      </p:sp>
      <p:sp>
        <p:nvSpPr>
          <p:cNvPr id="223" name="Google Shape;223;p5"/>
          <p:cNvSpPr/>
          <p:nvPr/>
        </p:nvSpPr>
        <p:spPr>
          <a:xfrm>
            <a:off x="896112" y="3410712"/>
            <a:ext cx="219456" cy="21945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896112" y="3410712"/>
            <a:ext cx="219456"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sp>
        <p:nvSpPr>
          <p:cNvPr id="225" name="Google Shape;225;p5"/>
          <p:cNvSpPr/>
          <p:nvPr/>
        </p:nvSpPr>
        <p:spPr>
          <a:xfrm>
            <a:off x="1261872" y="3328416"/>
            <a:ext cx="5394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250"/>
              <a:buFont typeface="Calibri"/>
              <a:buNone/>
            </a:pPr>
            <a:r>
              <a:rPr b="1" i="0" lang="en-US" sz="1250" u="none" cap="none" strike="noStrike">
                <a:solidFill>
                  <a:srgbClr val="16233B"/>
                </a:solidFill>
                <a:latin typeface="Calibri"/>
                <a:ea typeface="Calibri"/>
                <a:cs typeface="Calibri"/>
                <a:sym typeface="Calibri"/>
              </a:rPr>
              <a:t>Normalization / Scaling</a:t>
            </a:r>
            <a:endParaRPr b="0" i="0" sz="1250" u="none" cap="none" strike="noStrike">
              <a:solidFill>
                <a:schemeClr val="dk1"/>
              </a:solidFill>
              <a:latin typeface="Calibri"/>
              <a:ea typeface="Calibri"/>
              <a:cs typeface="Calibri"/>
              <a:sym typeface="Calibri"/>
            </a:endParaRPr>
          </a:p>
        </p:txBody>
      </p:sp>
      <p:sp>
        <p:nvSpPr>
          <p:cNvPr id="226" name="Google Shape;226;p5"/>
          <p:cNvSpPr/>
          <p:nvPr/>
        </p:nvSpPr>
        <p:spPr>
          <a:xfrm>
            <a:off x="1261872" y="3575304"/>
            <a:ext cx="54406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Coordinates are scaled/preprocessed for consistent, reliable input.</a:t>
            </a:r>
            <a:endParaRPr b="0" i="0" sz="1000" u="none" cap="none" strike="noStrike">
              <a:solidFill>
                <a:schemeClr val="dk1"/>
              </a:solidFill>
              <a:latin typeface="Calibri"/>
              <a:ea typeface="Calibri"/>
              <a:cs typeface="Calibri"/>
              <a:sym typeface="Calibri"/>
            </a:endParaRPr>
          </a:p>
        </p:txBody>
      </p:sp>
      <p:sp>
        <p:nvSpPr>
          <p:cNvPr id="227" name="Google Shape;227;p5"/>
          <p:cNvSpPr/>
          <p:nvPr/>
        </p:nvSpPr>
        <p:spPr>
          <a:xfrm>
            <a:off x="896112" y="4096512"/>
            <a:ext cx="219456" cy="21945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896112" y="4096512"/>
            <a:ext cx="219456"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229" name="Google Shape;229;p5"/>
          <p:cNvSpPr/>
          <p:nvPr/>
        </p:nvSpPr>
        <p:spPr>
          <a:xfrm>
            <a:off x="1261872" y="4014216"/>
            <a:ext cx="5394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250"/>
              <a:buFont typeface="Calibri"/>
              <a:buNone/>
            </a:pPr>
            <a:r>
              <a:rPr b="1" i="0" lang="en-US" sz="1250" u="none" cap="none" strike="noStrike">
                <a:solidFill>
                  <a:srgbClr val="16233B"/>
                </a:solidFill>
                <a:latin typeface="Calibri"/>
                <a:ea typeface="Calibri"/>
                <a:cs typeface="Calibri"/>
                <a:sym typeface="Calibri"/>
              </a:rPr>
              <a:t>Label Encoding</a:t>
            </a:r>
            <a:endParaRPr b="0" i="0" sz="1250" u="none" cap="none" strike="noStrike">
              <a:solidFill>
                <a:schemeClr val="dk1"/>
              </a:solidFill>
              <a:latin typeface="Calibri"/>
              <a:ea typeface="Calibri"/>
              <a:cs typeface="Calibri"/>
              <a:sym typeface="Calibri"/>
            </a:endParaRPr>
          </a:p>
        </p:txBody>
      </p:sp>
      <p:sp>
        <p:nvSpPr>
          <p:cNvPr id="230" name="Google Shape;230;p5"/>
          <p:cNvSpPr/>
          <p:nvPr/>
        </p:nvSpPr>
        <p:spPr>
          <a:xfrm>
            <a:off x="1261872" y="4261104"/>
            <a:ext cx="54406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Text labels (signs/gestures) are encoded into numeric classes.</a:t>
            </a:r>
            <a:endParaRPr b="0" i="0" sz="1000" u="none" cap="none" strike="noStrike">
              <a:solidFill>
                <a:schemeClr val="dk1"/>
              </a:solidFill>
              <a:latin typeface="Calibri"/>
              <a:ea typeface="Calibri"/>
              <a:cs typeface="Calibri"/>
              <a:sym typeface="Calibri"/>
            </a:endParaRPr>
          </a:p>
        </p:txBody>
      </p:sp>
      <p:sp>
        <p:nvSpPr>
          <p:cNvPr id="231" name="Google Shape;231;p5"/>
          <p:cNvSpPr/>
          <p:nvPr/>
        </p:nvSpPr>
        <p:spPr>
          <a:xfrm>
            <a:off x="896112" y="4782312"/>
            <a:ext cx="219456" cy="21945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896112" y="4782312"/>
            <a:ext cx="219456"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sp>
        <p:nvSpPr>
          <p:cNvPr id="233" name="Google Shape;233;p5"/>
          <p:cNvSpPr/>
          <p:nvPr/>
        </p:nvSpPr>
        <p:spPr>
          <a:xfrm>
            <a:off x="1261872" y="4700016"/>
            <a:ext cx="5394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250"/>
              <a:buFont typeface="Calibri"/>
              <a:buNone/>
            </a:pPr>
            <a:r>
              <a:rPr b="1" i="0" lang="en-US" sz="1250" u="none" cap="none" strike="noStrike">
                <a:solidFill>
                  <a:srgbClr val="16233B"/>
                </a:solidFill>
                <a:latin typeface="Calibri"/>
                <a:ea typeface="Calibri"/>
                <a:cs typeface="Calibri"/>
                <a:sym typeface="Calibri"/>
              </a:rPr>
              <a:t>Random Forest Training</a:t>
            </a:r>
            <a:endParaRPr b="0" i="0" sz="1250" u="none" cap="none" strike="noStrike">
              <a:solidFill>
                <a:schemeClr val="dk1"/>
              </a:solidFill>
              <a:latin typeface="Calibri"/>
              <a:ea typeface="Calibri"/>
              <a:cs typeface="Calibri"/>
              <a:sym typeface="Calibri"/>
            </a:endParaRPr>
          </a:p>
        </p:txBody>
      </p:sp>
      <p:sp>
        <p:nvSpPr>
          <p:cNvPr id="234" name="Google Shape;234;p5"/>
          <p:cNvSpPr/>
          <p:nvPr/>
        </p:nvSpPr>
        <p:spPr>
          <a:xfrm>
            <a:off x="1261872" y="4946904"/>
            <a:ext cx="54406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The 63-feature vectors train a Random Forest classifier.</a:t>
            </a:r>
            <a:endParaRPr b="0" i="0" sz="1000" u="none" cap="none" strike="noStrike">
              <a:solidFill>
                <a:schemeClr val="dk1"/>
              </a:solidFill>
              <a:latin typeface="Calibri"/>
              <a:ea typeface="Calibri"/>
              <a:cs typeface="Calibri"/>
              <a:sym typeface="Calibri"/>
            </a:endParaRPr>
          </a:p>
        </p:txBody>
      </p:sp>
      <p:sp>
        <p:nvSpPr>
          <p:cNvPr id="235" name="Google Shape;235;p5"/>
          <p:cNvSpPr/>
          <p:nvPr/>
        </p:nvSpPr>
        <p:spPr>
          <a:xfrm>
            <a:off x="896112" y="5468112"/>
            <a:ext cx="219456" cy="21945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896112" y="5468112"/>
            <a:ext cx="219456"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sp>
        <p:nvSpPr>
          <p:cNvPr id="237" name="Google Shape;237;p5"/>
          <p:cNvSpPr/>
          <p:nvPr/>
        </p:nvSpPr>
        <p:spPr>
          <a:xfrm>
            <a:off x="1261872" y="5385816"/>
            <a:ext cx="5394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233B"/>
              </a:buClr>
              <a:buSzPts val="1250"/>
              <a:buFont typeface="Calibri"/>
              <a:buNone/>
            </a:pPr>
            <a:r>
              <a:rPr b="1" i="0" lang="en-US" sz="1250" u="none" cap="none" strike="noStrike">
                <a:solidFill>
                  <a:srgbClr val="16233B"/>
                </a:solidFill>
                <a:latin typeface="Calibri"/>
                <a:ea typeface="Calibri"/>
                <a:cs typeface="Calibri"/>
                <a:sym typeface="Calibri"/>
              </a:rPr>
              <a:t>Model Saving (Joblib)</a:t>
            </a:r>
            <a:endParaRPr b="0" i="0" sz="1250" u="none" cap="none" strike="noStrike">
              <a:solidFill>
                <a:schemeClr val="dk1"/>
              </a:solidFill>
              <a:latin typeface="Calibri"/>
              <a:ea typeface="Calibri"/>
              <a:cs typeface="Calibri"/>
              <a:sym typeface="Calibri"/>
            </a:endParaRPr>
          </a:p>
        </p:txBody>
      </p:sp>
      <p:sp>
        <p:nvSpPr>
          <p:cNvPr id="238" name="Google Shape;238;p5"/>
          <p:cNvSpPr/>
          <p:nvPr/>
        </p:nvSpPr>
        <p:spPr>
          <a:xfrm>
            <a:off x="1261872" y="5632704"/>
            <a:ext cx="54406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Trained model, encoder, and scaler are saved as .pkl files.</a:t>
            </a:r>
            <a:endParaRPr b="0" i="0" sz="1000" u="none" cap="none" strike="noStrike">
              <a:solidFill>
                <a:schemeClr val="dk1"/>
              </a:solidFill>
              <a:latin typeface="Calibri"/>
              <a:ea typeface="Calibri"/>
              <a:cs typeface="Calibri"/>
              <a:sym typeface="Calibri"/>
            </a:endParaRPr>
          </a:p>
        </p:txBody>
      </p:sp>
      <p:sp>
        <p:nvSpPr>
          <p:cNvPr id="239" name="Google Shape;239;p5"/>
          <p:cNvSpPr/>
          <p:nvPr/>
        </p:nvSpPr>
        <p:spPr>
          <a:xfrm>
            <a:off x="7040880" y="1417320"/>
            <a:ext cx="4617720" cy="4892040"/>
          </a:xfrm>
          <a:prstGeom prst="roundRect">
            <a:avLst>
              <a:gd fmla="val 1782" name="adj"/>
            </a:avLst>
          </a:prstGeom>
          <a:solidFill>
            <a:srgbClr val="0B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7315200" y="1691640"/>
            <a:ext cx="594360" cy="59436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tree_cyan.png" id="241" name="Google Shape;241;p5"/>
          <p:cNvPicPr preferRelativeResize="0"/>
          <p:nvPr/>
        </p:nvPicPr>
        <p:blipFill rotWithShape="1">
          <a:blip r:embed="rId3">
            <a:alphaModFix/>
          </a:blip>
          <a:srcRect b="0" l="0" r="0" t="0"/>
          <a:stretch/>
        </p:blipFill>
        <p:spPr>
          <a:xfrm>
            <a:off x="7452360" y="1828800"/>
            <a:ext cx="320040" cy="320040"/>
          </a:xfrm>
          <a:prstGeom prst="rect">
            <a:avLst/>
          </a:prstGeom>
          <a:noFill/>
          <a:ln>
            <a:noFill/>
          </a:ln>
        </p:spPr>
      </p:pic>
      <p:sp>
        <p:nvSpPr>
          <p:cNvPr id="242" name="Google Shape;242;p5"/>
          <p:cNvSpPr/>
          <p:nvPr/>
        </p:nvSpPr>
        <p:spPr>
          <a:xfrm>
            <a:off x="8046720" y="1737360"/>
            <a:ext cx="3429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Why Random Forest?</a:t>
            </a:r>
            <a:endParaRPr b="0" i="0" sz="1700" u="none" cap="none" strike="noStrike">
              <a:solidFill>
                <a:schemeClr val="dk1"/>
              </a:solidFill>
              <a:latin typeface="Calibri"/>
              <a:ea typeface="Calibri"/>
              <a:cs typeface="Calibri"/>
              <a:sym typeface="Calibri"/>
            </a:endParaRPr>
          </a:p>
        </p:txBody>
      </p:sp>
      <p:sp>
        <p:nvSpPr>
          <p:cNvPr id="243" name="Google Shape;243;p5"/>
          <p:cNvSpPr/>
          <p:nvPr/>
        </p:nvSpPr>
        <p:spPr>
          <a:xfrm>
            <a:off x="7315200" y="2633472"/>
            <a:ext cx="146304" cy="146304"/>
          </a:xfrm>
          <a:prstGeom prst="ellipse">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5"/>
          <p:cNvSpPr/>
          <p:nvPr/>
        </p:nvSpPr>
        <p:spPr>
          <a:xfrm>
            <a:off x="7607808" y="2487168"/>
            <a:ext cx="38862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100"/>
              <a:buFont typeface="Calibri"/>
              <a:buNone/>
            </a:pPr>
            <a:r>
              <a:rPr b="0" i="0" lang="en-US" sz="1100" u="none" cap="none" strike="noStrike">
                <a:solidFill>
                  <a:srgbClr val="E4EEF7"/>
                </a:solidFill>
                <a:latin typeface="Calibri"/>
                <a:ea typeface="Calibri"/>
                <a:cs typeface="Calibri"/>
                <a:sym typeface="Calibri"/>
              </a:rPr>
              <a:t>Handles many numeric features (63) well</a:t>
            </a:r>
            <a:endParaRPr b="0" i="0" sz="1100" u="none" cap="none" strike="noStrike">
              <a:solidFill>
                <a:schemeClr val="dk1"/>
              </a:solidFill>
              <a:latin typeface="Calibri"/>
              <a:ea typeface="Calibri"/>
              <a:cs typeface="Calibri"/>
              <a:sym typeface="Calibri"/>
            </a:endParaRPr>
          </a:p>
        </p:txBody>
      </p:sp>
      <p:sp>
        <p:nvSpPr>
          <p:cNvPr id="245" name="Google Shape;245;p5"/>
          <p:cNvSpPr/>
          <p:nvPr/>
        </p:nvSpPr>
        <p:spPr>
          <a:xfrm>
            <a:off x="7315200" y="3291840"/>
            <a:ext cx="146304" cy="146304"/>
          </a:xfrm>
          <a:prstGeom prst="ellipse">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7607808" y="3145536"/>
            <a:ext cx="38862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100"/>
              <a:buFont typeface="Calibri"/>
              <a:buNone/>
            </a:pPr>
            <a:r>
              <a:rPr b="0" i="0" lang="en-US" sz="1100" u="none" cap="none" strike="noStrike">
                <a:solidFill>
                  <a:srgbClr val="E4EEF7"/>
                </a:solidFill>
                <a:latin typeface="Calibri"/>
                <a:ea typeface="Calibri"/>
                <a:cs typeface="Calibri"/>
                <a:sym typeface="Calibri"/>
              </a:rPr>
              <a:t>Combines many decision trees for stable, reliable predictions</a:t>
            </a:r>
            <a:endParaRPr b="0" i="0" sz="1100" u="none" cap="none" strike="noStrike">
              <a:solidFill>
                <a:schemeClr val="dk1"/>
              </a:solidFill>
              <a:latin typeface="Calibri"/>
              <a:ea typeface="Calibri"/>
              <a:cs typeface="Calibri"/>
              <a:sym typeface="Calibri"/>
            </a:endParaRPr>
          </a:p>
        </p:txBody>
      </p:sp>
      <p:sp>
        <p:nvSpPr>
          <p:cNvPr id="247" name="Google Shape;247;p5"/>
          <p:cNvSpPr/>
          <p:nvPr/>
        </p:nvSpPr>
        <p:spPr>
          <a:xfrm>
            <a:off x="7315200" y="3950208"/>
            <a:ext cx="146304" cy="146304"/>
          </a:xfrm>
          <a:prstGeom prst="ellipse">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7607808" y="3803904"/>
            <a:ext cx="38862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100"/>
              <a:buFont typeface="Calibri"/>
              <a:buNone/>
            </a:pPr>
            <a:r>
              <a:rPr b="0" i="0" lang="en-US" sz="1100" u="none" cap="none" strike="noStrike">
                <a:solidFill>
                  <a:srgbClr val="E4EEF7"/>
                </a:solidFill>
                <a:latin typeface="Calibri"/>
                <a:ea typeface="Calibri"/>
                <a:cs typeface="Calibri"/>
                <a:sym typeface="Calibri"/>
              </a:rPr>
              <a:t>Less prone to overfitting than a single decision tree</a:t>
            </a:r>
            <a:endParaRPr b="0" i="0" sz="1100" u="none" cap="none" strike="noStrike">
              <a:solidFill>
                <a:schemeClr val="dk1"/>
              </a:solidFill>
              <a:latin typeface="Calibri"/>
              <a:ea typeface="Calibri"/>
              <a:cs typeface="Calibri"/>
              <a:sym typeface="Calibri"/>
            </a:endParaRPr>
          </a:p>
        </p:txBody>
      </p:sp>
      <p:sp>
        <p:nvSpPr>
          <p:cNvPr id="249" name="Google Shape;249;p5"/>
          <p:cNvSpPr/>
          <p:nvPr/>
        </p:nvSpPr>
        <p:spPr>
          <a:xfrm>
            <a:off x="7315200" y="4608576"/>
            <a:ext cx="146304" cy="146304"/>
          </a:xfrm>
          <a:prstGeom prst="ellipse">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7607808" y="4462272"/>
            <a:ext cx="38862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100"/>
              <a:buFont typeface="Calibri"/>
              <a:buNone/>
            </a:pPr>
            <a:r>
              <a:rPr b="0" i="0" lang="en-US" sz="1100" u="none" cap="none" strike="noStrike">
                <a:solidFill>
                  <a:srgbClr val="E4EEF7"/>
                </a:solidFill>
                <a:latin typeface="Calibri"/>
                <a:ea typeface="Calibri"/>
                <a:cs typeface="Calibri"/>
                <a:sym typeface="Calibri"/>
              </a:rPr>
              <a:t>Fast to train and fast for real-time prediction</a:t>
            </a:r>
            <a:endParaRPr b="0" i="0" sz="1100" u="none" cap="none" strike="noStrike">
              <a:solidFill>
                <a:schemeClr val="dk1"/>
              </a:solidFill>
              <a:latin typeface="Calibri"/>
              <a:ea typeface="Calibri"/>
              <a:cs typeface="Calibri"/>
              <a:sym typeface="Calibri"/>
            </a:endParaRPr>
          </a:p>
        </p:txBody>
      </p:sp>
      <p:sp>
        <p:nvSpPr>
          <p:cNvPr id="251" name="Google Shape;251;p5"/>
          <p:cNvSpPr/>
          <p:nvPr/>
        </p:nvSpPr>
        <p:spPr>
          <a:xfrm>
            <a:off x="7315200" y="5266944"/>
            <a:ext cx="146304" cy="146304"/>
          </a:xfrm>
          <a:prstGeom prst="ellipse">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7607808" y="5120640"/>
            <a:ext cx="38862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100"/>
              <a:buFont typeface="Calibri"/>
              <a:buNone/>
            </a:pPr>
            <a:r>
              <a:rPr b="0" i="0" lang="en-US" sz="1100" u="none" cap="none" strike="noStrike">
                <a:solidFill>
                  <a:srgbClr val="E4EEF7"/>
                </a:solidFill>
                <a:latin typeface="Calibri"/>
                <a:ea typeface="Calibri"/>
                <a:cs typeface="Calibri"/>
                <a:sym typeface="Calibri"/>
              </a:rPr>
              <a:t>Works well even with moderately sized datasets</a:t>
            </a:r>
            <a:endParaRPr b="0" i="0" sz="1100" u="none" cap="none" strike="noStrike">
              <a:solidFill>
                <a:schemeClr val="dk1"/>
              </a:solidFill>
              <a:latin typeface="Calibri"/>
              <a:ea typeface="Calibri"/>
              <a:cs typeface="Calibri"/>
              <a:sym typeface="Calibri"/>
            </a:endParaRPr>
          </a:p>
        </p:txBody>
      </p:sp>
      <p:sp>
        <p:nvSpPr>
          <p:cNvPr id="253" name="Google Shape;253;p5"/>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DATA PROCESSING &amp; MACHINE LEARNING</a:t>
            </a:r>
            <a:endParaRPr b="0" i="0" sz="900" u="none" cap="none" strike="noStrike">
              <a:solidFill>
                <a:schemeClr val="dk1"/>
              </a:solidFill>
              <a:latin typeface="Calibri"/>
              <a:ea typeface="Calibri"/>
              <a:cs typeface="Calibri"/>
              <a:sym typeface="Calibri"/>
            </a:endParaRPr>
          </a:p>
        </p:txBody>
      </p:sp>
      <p:sp>
        <p:nvSpPr>
          <p:cNvPr id="254" name="Google Shape;254;p5"/>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5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259" name="Shape 259"/>
        <p:cNvGrpSpPr/>
        <p:nvPr/>
      </p:nvGrpSpPr>
      <p:grpSpPr>
        <a:xfrm>
          <a:off x="0" y="0"/>
          <a:ext cx="0" cy="0"/>
          <a:chOff x="0" y="0"/>
          <a:chExt cx="0" cy="0"/>
        </a:xfrm>
      </p:grpSpPr>
      <p:sp>
        <p:nvSpPr>
          <p:cNvPr id="260" name="Google Shape;260;p6"/>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MODE 1</a:t>
            </a:r>
            <a:endParaRPr b="0" i="0" sz="1200" u="none" cap="none" strike="noStrike">
              <a:solidFill>
                <a:schemeClr val="dk1"/>
              </a:solidFill>
              <a:latin typeface="Calibri"/>
              <a:ea typeface="Calibri"/>
              <a:cs typeface="Calibri"/>
              <a:sym typeface="Calibri"/>
            </a:endParaRPr>
          </a:p>
        </p:txBody>
      </p:sp>
      <p:sp>
        <p:nvSpPr>
          <p:cNvPr id="261" name="Google Shape;261;p6"/>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Sign Language Recognition</a:t>
            </a:r>
            <a:endParaRPr b="0" i="0" sz="3000" u="none" cap="none" strike="noStrike">
              <a:solidFill>
                <a:schemeClr val="dk1"/>
              </a:solidFill>
              <a:latin typeface="Calibri"/>
              <a:ea typeface="Calibri"/>
              <a:cs typeface="Calibri"/>
              <a:sym typeface="Calibri"/>
            </a:endParaRPr>
          </a:p>
        </p:txBody>
      </p:sp>
      <p:sp>
        <p:nvSpPr>
          <p:cNvPr id="262" name="Google Shape;262;p6"/>
          <p:cNvSpPr/>
          <p:nvPr/>
        </p:nvSpPr>
        <p:spPr>
          <a:xfrm>
            <a:off x="548640"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a:off x="896112"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amera_navy.png" id="264" name="Google Shape;264;p6"/>
          <p:cNvPicPr preferRelativeResize="0"/>
          <p:nvPr/>
        </p:nvPicPr>
        <p:blipFill rotWithShape="1">
          <a:blip r:embed="rId3">
            <a:alphaModFix/>
          </a:blip>
          <a:srcRect b="0" l="0" r="0" t="0"/>
          <a:stretch/>
        </p:blipFill>
        <p:spPr>
          <a:xfrm>
            <a:off x="996696" y="1755648"/>
            <a:ext cx="237744" cy="237744"/>
          </a:xfrm>
          <a:prstGeom prst="rect">
            <a:avLst/>
          </a:prstGeom>
          <a:noFill/>
          <a:ln>
            <a:noFill/>
          </a:ln>
        </p:spPr>
      </p:pic>
      <p:sp>
        <p:nvSpPr>
          <p:cNvPr id="265" name="Google Shape;265;p6"/>
          <p:cNvSpPr/>
          <p:nvPr/>
        </p:nvSpPr>
        <p:spPr>
          <a:xfrm>
            <a:off x="566928"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Camera</a:t>
            </a:r>
            <a:endParaRPr b="0" i="0" sz="870" u="none" cap="none" strike="noStrike">
              <a:solidFill>
                <a:schemeClr val="dk1"/>
              </a:solidFill>
              <a:latin typeface="Calibri"/>
              <a:ea typeface="Calibri"/>
              <a:cs typeface="Calibri"/>
              <a:sym typeface="Calibri"/>
            </a:endParaRPr>
          </a:p>
        </p:txBody>
      </p:sp>
      <p:sp>
        <p:nvSpPr>
          <p:cNvPr id="266" name="Google Shape;266;p6"/>
          <p:cNvSpPr/>
          <p:nvPr/>
        </p:nvSpPr>
        <p:spPr>
          <a:xfrm>
            <a:off x="1700784" y="2135124"/>
            <a:ext cx="182880" cy="164592"/>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1901952"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2249424"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_navy.png" id="269" name="Google Shape;269;p6"/>
          <p:cNvPicPr preferRelativeResize="0"/>
          <p:nvPr/>
        </p:nvPicPr>
        <p:blipFill rotWithShape="1">
          <a:blip r:embed="rId4">
            <a:alphaModFix/>
          </a:blip>
          <a:srcRect b="0" l="0" r="0" t="0"/>
          <a:stretch/>
        </p:blipFill>
        <p:spPr>
          <a:xfrm>
            <a:off x="2350008" y="1755648"/>
            <a:ext cx="237744" cy="237744"/>
          </a:xfrm>
          <a:prstGeom prst="rect">
            <a:avLst/>
          </a:prstGeom>
          <a:noFill/>
          <a:ln>
            <a:noFill/>
          </a:ln>
        </p:spPr>
      </p:pic>
      <p:sp>
        <p:nvSpPr>
          <p:cNvPr id="270" name="Google Shape;270;p6"/>
          <p:cNvSpPr/>
          <p:nvPr/>
        </p:nvSpPr>
        <p:spPr>
          <a:xfrm>
            <a:off x="1920240"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Hand</a:t>
            </a:r>
            <a:endParaRPr b="0" i="0" sz="87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Detection</a:t>
            </a:r>
            <a:endParaRPr b="0" i="0" sz="870" u="none" cap="none" strike="noStrike">
              <a:solidFill>
                <a:schemeClr val="dk1"/>
              </a:solidFill>
              <a:latin typeface="Calibri"/>
              <a:ea typeface="Calibri"/>
              <a:cs typeface="Calibri"/>
              <a:sym typeface="Calibri"/>
            </a:endParaRPr>
          </a:p>
        </p:txBody>
      </p:sp>
      <p:sp>
        <p:nvSpPr>
          <p:cNvPr id="271" name="Google Shape;271;p6"/>
          <p:cNvSpPr/>
          <p:nvPr/>
        </p:nvSpPr>
        <p:spPr>
          <a:xfrm>
            <a:off x="3054096" y="2135124"/>
            <a:ext cx="182880" cy="164592"/>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a:off x="3255264"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a:off x="3602736"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layers_navy.png" id="274" name="Google Shape;274;p6"/>
          <p:cNvPicPr preferRelativeResize="0"/>
          <p:nvPr/>
        </p:nvPicPr>
        <p:blipFill rotWithShape="1">
          <a:blip r:embed="rId5">
            <a:alphaModFix/>
          </a:blip>
          <a:srcRect b="0" l="0" r="0" t="0"/>
          <a:stretch/>
        </p:blipFill>
        <p:spPr>
          <a:xfrm>
            <a:off x="3703320" y="1755648"/>
            <a:ext cx="237744" cy="237744"/>
          </a:xfrm>
          <a:prstGeom prst="rect">
            <a:avLst/>
          </a:prstGeom>
          <a:noFill/>
          <a:ln>
            <a:noFill/>
          </a:ln>
        </p:spPr>
      </p:pic>
      <p:sp>
        <p:nvSpPr>
          <p:cNvPr id="275" name="Google Shape;275;p6"/>
          <p:cNvSpPr/>
          <p:nvPr/>
        </p:nvSpPr>
        <p:spPr>
          <a:xfrm>
            <a:off x="3273552"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Landmark</a:t>
            </a:r>
            <a:endParaRPr b="0" i="0" sz="87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Extraction</a:t>
            </a:r>
            <a:endParaRPr b="0" i="0" sz="870" u="none" cap="none" strike="noStrike">
              <a:solidFill>
                <a:schemeClr val="dk1"/>
              </a:solidFill>
              <a:latin typeface="Calibri"/>
              <a:ea typeface="Calibri"/>
              <a:cs typeface="Calibri"/>
              <a:sym typeface="Calibri"/>
            </a:endParaRPr>
          </a:p>
        </p:txBody>
      </p:sp>
      <p:sp>
        <p:nvSpPr>
          <p:cNvPr id="276" name="Google Shape;276;p6"/>
          <p:cNvSpPr/>
          <p:nvPr/>
        </p:nvSpPr>
        <p:spPr>
          <a:xfrm>
            <a:off x="4407408" y="2135124"/>
            <a:ext cx="182880" cy="164592"/>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6"/>
          <p:cNvSpPr/>
          <p:nvPr/>
        </p:nvSpPr>
        <p:spPr>
          <a:xfrm>
            <a:off x="4608576"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4956048"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database_navy.png" id="279" name="Google Shape;279;p6"/>
          <p:cNvPicPr preferRelativeResize="0"/>
          <p:nvPr/>
        </p:nvPicPr>
        <p:blipFill rotWithShape="1">
          <a:blip r:embed="rId6">
            <a:alphaModFix/>
          </a:blip>
          <a:srcRect b="0" l="0" r="0" t="0"/>
          <a:stretch/>
        </p:blipFill>
        <p:spPr>
          <a:xfrm>
            <a:off x="5056632" y="1755648"/>
            <a:ext cx="237744" cy="237744"/>
          </a:xfrm>
          <a:prstGeom prst="rect">
            <a:avLst/>
          </a:prstGeom>
          <a:noFill/>
          <a:ln>
            <a:noFill/>
          </a:ln>
        </p:spPr>
      </p:pic>
      <p:sp>
        <p:nvSpPr>
          <p:cNvPr id="280" name="Google Shape;280;p6"/>
          <p:cNvSpPr/>
          <p:nvPr/>
        </p:nvSpPr>
        <p:spPr>
          <a:xfrm>
            <a:off x="4626864"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63</a:t>
            </a:r>
            <a:endParaRPr b="0" i="0" sz="87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Features</a:t>
            </a:r>
            <a:endParaRPr b="0" i="0" sz="870" u="none" cap="none" strike="noStrike">
              <a:solidFill>
                <a:schemeClr val="dk1"/>
              </a:solidFill>
              <a:latin typeface="Calibri"/>
              <a:ea typeface="Calibri"/>
              <a:cs typeface="Calibri"/>
              <a:sym typeface="Calibri"/>
            </a:endParaRPr>
          </a:p>
        </p:txBody>
      </p:sp>
      <p:sp>
        <p:nvSpPr>
          <p:cNvPr id="281" name="Google Shape;281;p6"/>
          <p:cNvSpPr/>
          <p:nvPr/>
        </p:nvSpPr>
        <p:spPr>
          <a:xfrm>
            <a:off x="5760720" y="2135124"/>
            <a:ext cx="182880" cy="164592"/>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
          <p:cNvSpPr/>
          <p:nvPr/>
        </p:nvSpPr>
        <p:spPr>
          <a:xfrm>
            <a:off x="5961888"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6309360"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ogs_navy.png" id="284" name="Google Shape;284;p6"/>
          <p:cNvPicPr preferRelativeResize="0"/>
          <p:nvPr/>
        </p:nvPicPr>
        <p:blipFill rotWithShape="1">
          <a:blip r:embed="rId7">
            <a:alphaModFix/>
          </a:blip>
          <a:srcRect b="0" l="0" r="0" t="0"/>
          <a:stretch/>
        </p:blipFill>
        <p:spPr>
          <a:xfrm>
            <a:off x="6409944" y="1755648"/>
            <a:ext cx="237744" cy="237744"/>
          </a:xfrm>
          <a:prstGeom prst="rect">
            <a:avLst/>
          </a:prstGeom>
          <a:noFill/>
          <a:ln>
            <a:noFill/>
          </a:ln>
        </p:spPr>
      </p:pic>
      <p:sp>
        <p:nvSpPr>
          <p:cNvPr id="285" name="Google Shape;285;p6"/>
          <p:cNvSpPr/>
          <p:nvPr/>
        </p:nvSpPr>
        <p:spPr>
          <a:xfrm>
            <a:off x="5980176"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Preprocessing</a:t>
            </a:r>
            <a:endParaRPr b="0" i="0" sz="870" u="none" cap="none" strike="noStrike">
              <a:solidFill>
                <a:schemeClr val="dk1"/>
              </a:solidFill>
              <a:latin typeface="Calibri"/>
              <a:ea typeface="Calibri"/>
              <a:cs typeface="Calibri"/>
              <a:sym typeface="Calibri"/>
            </a:endParaRPr>
          </a:p>
        </p:txBody>
      </p:sp>
      <p:sp>
        <p:nvSpPr>
          <p:cNvPr id="286" name="Google Shape;286;p6"/>
          <p:cNvSpPr/>
          <p:nvPr/>
        </p:nvSpPr>
        <p:spPr>
          <a:xfrm>
            <a:off x="7114032" y="2135124"/>
            <a:ext cx="182880" cy="164592"/>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a:off x="7315200"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7662672"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tree_navy.png" id="289" name="Google Shape;289;p6"/>
          <p:cNvPicPr preferRelativeResize="0"/>
          <p:nvPr/>
        </p:nvPicPr>
        <p:blipFill rotWithShape="1">
          <a:blip r:embed="rId8">
            <a:alphaModFix/>
          </a:blip>
          <a:srcRect b="0" l="0" r="0" t="0"/>
          <a:stretch/>
        </p:blipFill>
        <p:spPr>
          <a:xfrm>
            <a:off x="7763256" y="1755648"/>
            <a:ext cx="237744" cy="237744"/>
          </a:xfrm>
          <a:prstGeom prst="rect">
            <a:avLst/>
          </a:prstGeom>
          <a:noFill/>
          <a:ln>
            <a:noFill/>
          </a:ln>
        </p:spPr>
      </p:pic>
      <p:sp>
        <p:nvSpPr>
          <p:cNvPr id="290" name="Google Shape;290;p6"/>
          <p:cNvSpPr/>
          <p:nvPr/>
        </p:nvSpPr>
        <p:spPr>
          <a:xfrm>
            <a:off x="7333488"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Sign Random</a:t>
            </a:r>
            <a:endParaRPr b="0" i="0" sz="87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Forest</a:t>
            </a:r>
            <a:endParaRPr b="0" i="0" sz="870" u="none" cap="none" strike="noStrike">
              <a:solidFill>
                <a:schemeClr val="dk1"/>
              </a:solidFill>
              <a:latin typeface="Calibri"/>
              <a:ea typeface="Calibri"/>
              <a:cs typeface="Calibri"/>
              <a:sym typeface="Calibri"/>
            </a:endParaRPr>
          </a:p>
        </p:txBody>
      </p:sp>
      <p:sp>
        <p:nvSpPr>
          <p:cNvPr id="291" name="Google Shape;291;p6"/>
          <p:cNvSpPr/>
          <p:nvPr/>
        </p:nvSpPr>
        <p:spPr>
          <a:xfrm>
            <a:off x="8467344" y="2135124"/>
            <a:ext cx="182880" cy="164592"/>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8668512"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9015984"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ode_navy.png" id="294" name="Google Shape;294;p6"/>
          <p:cNvPicPr preferRelativeResize="0"/>
          <p:nvPr/>
        </p:nvPicPr>
        <p:blipFill rotWithShape="1">
          <a:blip r:embed="rId9">
            <a:alphaModFix/>
          </a:blip>
          <a:srcRect b="0" l="0" r="0" t="0"/>
          <a:stretch/>
        </p:blipFill>
        <p:spPr>
          <a:xfrm>
            <a:off x="9116568" y="1755648"/>
            <a:ext cx="237744" cy="237744"/>
          </a:xfrm>
          <a:prstGeom prst="rect">
            <a:avLst/>
          </a:prstGeom>
          <a:noFill/>
          <a:ln>
            <a:noFill/>
          </a:ln>
        </p:spPr>
      </p:pic>
      <p:sp>
        <p:nvSpPr>
          <p:cNvPr id="295" name="Google Shape;295;p6"/>
          <p:cNvSpPr/>
          <p:nvPr/>
        </p:nvSpPr>
        <p:spPr>
          <a:xfrm>
            <a:off x="8686800"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Label</a:t>
            </a:r>
            <a:endParaRPr b="0" i="0" sz="87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Encoder</a:t>
            </a:r>
            <a:endParaRPr b="0" i="0" sz="870" u="none" cap="none" strike="noStrike">
              <a:solidFill>
                <a:schemeClr val="dk1"/>
              </a:solidFill>
              <a:latin typeface="Calibri"/>
              <a:ea typeface="Calibri"/>
              <a:cs typeface="Calibri"/>
              <a:sym typeface="Calibri"/>
            </a:endParaRPr>
          </a:p>
        </p:txBody>
      </p:sp>
      <p:sp>
        <p:nvSpPr>
          <p:cNvPr id="296" name="Google Shape;296;p6"/>
          <p:cNvSpPr/>
          <p:nvPr/>
        </p:nvSpPr>
        <p:spPr>
          <a:xfrm>
            <a:off x="9820656" y="2135124"/>
            <a:ext cx="182880" cy="164592"/>
          </a:xfrm>
          <a:prstGeom prst="chevron">
            <a:avLst>
              <a:gd fmla="val 50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10021824" y="1508760"/>
            <a:ext cx="1133856" cy="1417320"/>
          </a:xfrm>
          <a:prstGeom prst="roundRect">
            <a:avLst>
              <a:gd fmla="val 6452" name="adj"/>
            </a:avLst>
          </a:prstGeom>
          <a:solidFill>
            <a:srgbClr val="FFFFFF"/>
          </a:solidFill>
          <a:ln cap="flat" cmpd="sng" w="12700">
            <a:solidFill>
              <a:srgbClr val="E1E8F0"/>
            </a:solidFill>
            <a:prstDash val="solid"/>
            <a:round/>
            <a:headEnd len="sm" w="sm" type="none"/>
            <a:tailEnd len="sm" w="sm" type="none"/>
          </a:ln>
          <a:effectLst>
            <a:outerShdw blurRad="508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a:off x="10369296" y="1655064"/>
            <a:ext cx="438912" cy="438912"/>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heck_navy.png" id="299" name="Google Shape;299;p6"/>
          <p:cNvPicPr preferRelativeResize="0"/>
          <p:nvPr/>
        </p:nvPicPr>
        <p:blipFill rotWithShape="1">
          <a:blip r:embed="rId10">
            <a:alphaModFix/>
          </a:blip>
          <a:srcRect b="0" l="0" r="0" t="0"/>
          <a:stretch/>
        </p:blipFill>
        <p:spPr>
          <a:xfrm>
            <a:off x="10469880" y="1755648"/>
            <a:ext cx="237744" cy="237744"/>
          </a:xfrm>
          <a:prstGeom prst="rect">
            <a:avLst/>
          </a:prstGeom>
          <a:noFill/>
          <a:ln>
            <a:noFill/>
          </a:ln>
        </p:spPr>
      </p:pic>
      <p:sp>
        <p:nvSpPr>
          <p:cNvPr id="300" name="Google Shape;300;p6"/>
          <p:cNvSpPr/>
          <p:nvPr/>
        </p:nvSpPr>
        <p:spPr>
          <a:xfrm>
            <a:off x="10040112" y="2221992"/>
            <a:ext cx="1097280" cy="65836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Alphabet /</a:t>
            </a:r>
            <a:endParaRPr b="0" i="0" sz="87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6233B"/>
              </a:buClr>
              <a:buSzPts val="870"/>
              <a:buFont typeface="Calibri"/>
              <a:buNone/>
            </a:pPr>
            <a:r>
              <a:rPr b="1" i="0" lang="en-US" sz="870" u="none" cap="none" strike="noStrike">
                <a:solidFill>
                  <a:srgbClr val="16233B"/>
                </a:solidFill>
                <a:latin typeface="Calibri"/>
                <a:ea typeface="Calibri"/>
                <a:cs typeface="Calibri"/>
                <a:sym typeface="Calibri"/>
              </a:rPr>
              <a:t>Sign Prediction</a:t>
            </a:r>
            <a:endParaRPr b="0" i="0" sz="870" u="none" cap="none" strike="noStrike">
              <a:solidFill>
                <a:schemeClr val="dk1"/>
              </a:solidFill>
              <a:latin typeface="Calibri"/>
              <a:ea typeface="Calibri"/>
              <a:cs typeface="Calibri"/>
              <a:sym typeface="Calibri"/>
            </a:endParaRPr>
          </a:p>
        </p:txBody>
      </p:sp>
      <p:sp>
        <p:nvSpPr>
          <p:cNvPr id="301" name="Google Shape;301;p6"/>
          <p:cNvSpPr/>
          <p:nvPr/>
        </p:nvSpPr>
        <p:spPr>
          <a:xfrm>
            <a:off x="548640" y="3063240"/>
            <a:ext cx="5349240" cy="1737360"/>
          </a:xfrm>
          <a:prstGeom prst="roundRect">
            <a:avLst>
              <a:gd fmla="val 4737" name="adj"/>
            </a:avLst>
          </a:prstGeom>
          <a:solidFill>
            <a:srgbClr val="0B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822960" y="3246120"/>
            <a:ext cx="48463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1200"/>
              <a:buFont typeface="Calibri"/>
              <a:buNone/>
            </a:pPr>
            <a:r>
              <a:rPr b="1" i="0" lang="en-US" sz="1200" u="none" cap="none" strike="noStrike">
                <a:solidFill>
                  <a:srgbClr val="00E5FF"/>
                </a:solidFill>
                <a:latin typeface="Calibri"/>
                <a:ea typeface="Calibri"/>
                <a:cs typeface="Calibri"/>
                <a:sym typeface="Calibri"/>
              </a:rPr>
              <a:t>MODEL FILES USED</a:t>
            </a:r>
            <a:endParaRPr b="0" i="0" sz="1200" u="none" cap="none" strike="noStrike">
              <a:solidFill>
                <a:schemeClr val="dk1"/>
              </a:solidFill>
              <a:latin typeface="Calibri"/>
              <a:ea typeface="Calibri"/>
              <a:cs typeface="Calibri"/>
              <a:sym typeface="Calibri"/>
            </a:endParaRPr>
          </a:p>
        </p:txBody>
      </p:sp>
      <p:sp>
        <p:nvSpPr>
          <p:cNvPr id="303" name="Google Shape;303;p6"/>
          <p:cNvSpPr/>
          <p:nvPr/>
        </p:nvSpPr>
        <p:spPr>
          <a:xfrm>
            <a:off x="822960" y="3566160"/>
            <a:ext cx="228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800"/>
              <a:buFont typeface="Calibri"/>
              <a:buNone/>
            </a:pPr>
            <a:r>
              <a:rPr b="0" i="0" lang="en-US" sz="800" u="none" cap="none" strike="noStrike">
                <a:solidFill>
                  <a:srgbClr val="00C2CB"/>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304" name="Google Shape;304;p6"/>
          <p:cNvSpPr/>
          <p:nvPr/>
        </p:nvSpPr>
        <p:spPr>
          <a:xfrm>
            <a:off x="1051560" y="3529584"/>
            <a:ext cx="47091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050"/>
              <a:buFont typeface="Courier New"/>
              <a:buNone/>
            </a:pPr>
            <a:r>
              <a:rPr b="0" i="0" lang="en-US" sz="1050" u="none" cap="none" strike="noStrike">
                <a:solidFill>
                  <a:srgbClr val="E4EEF7"/>
                </a:solidFill>
                <a:latin typeface="Courier New"/>
                <a:ea typeface="Courier New"/>
                <a:cs typeface="Courier New"/>
                <a:sym typeface="Courier New"/>
              </a:rPr>
              <a:t>random_forest.pkl  —  trained classifier</a:t>
            </a:r>
            <a:endParaRPr b="0" i="0" sz="1050" u="none" cap="none" strike="noStrike">
              <a:solidFill>
                <a:schemeClr val="dk1"/>
              </a:solidFill>
              <a:latin typeface="Calibri"/>
              <a:ea typeface="Calibri"/>
              <a:cs typeface="Calibri"/>
              <a:sym typeface="Calibri"/>
            </a:endParaRPr>
          </a:p>
        </p:txBody>
      </p:sp>
      <p:sp>
        <p:nvSpPr>
          <p:cNvPr id="305" name="Google Shape;305;p6"/>
          <p:cNvSpPr/>
          <p:nvPr/>
        </p:nvSpPr>
        <p:spPr>
          <a:xfrm>
            <a:off x="822960" y="3950208"/>
            <a:ext cx="228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800"/>
              <a:buFont typeface="Calibri"/>
              <a:buNone/>
            </a:pPr>
            <a:r>
              <a:rPr b="0" i="0" lang="en-US" sz="800" u="none" cap="none" strike="noStrike">
                <a:solidFill>
                  <a:srgbClr val="00C2CB"/>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306" name="Google Shape;306;p6"/>
          <p:cNvSpPr/>
          <p:nvPr/>
        </p:nvSpPr>
        <p:spPr>
          <a:xfrm>
            <a:off x="1051560" y="3913632"/>
            <a:ext cx="47091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050"/>
              <a:buFont typeface="Courier New"/>
              <a:buNone/>
            </a:pPr>
            <a:r>
              <a:rPr b="0" i="0" lang="en-US" sz="1050" u="none" cap="none" strike="noStrike">
                <a:solidFill>
                  <a:srgbClr val="E4EEF7"/>
                </a:solidFill>
                <a:latin typeface="Courier New"/>
                <a:ea typeface="Courier New"/>
                <a:cs typeface="Courier New"/>
                <a:sym typeface="Courier New"/>
              </a:rPr>
              <a:t>label_encoder.pkl  —  converts predictions to labels</a:t>
            </a:r>
            <a:endParaRPr b="0" i="0" sz="1050" u="none" cap="none" strike="noStrike">
              <a:solidFill>
                <a:schemeClr val="dk1"/>
              </a:solidFill>
              <a:latin typeface="Calibri"/>
              <a:ea typeface="Calibri"/>
              <a:cs typeface="Calibri"/>
              <a:sym typeface="Calibri"/>
            </a:endParaRPr>
          </a:p>
        </p:txBody>
      </p:sp>
      <p:sp>
        <p:nvSpPr>
          <p:cNvPr id="307" name="Google Shape;307;p6"/>
          <p:cNvSpPr/>
          <p:nvPr/>
        </p:nvSpPr>
        <p:spPr>
          <a:xfrm>
            <a:off x="822960" y="4334256"/>
            <a:ext cx="228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800"/>
              <a:buFont typeface="Calibri"/>
              <a:buNone/>
            </a:pPr>
            <a:r>
              <a:rPr b="0" i="0" lang="en-US" sz="800" u="none" cap="none" strike="noStrike">
                <a:solidFill>
                  <a:srgbClr val="00C2CB"/>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308" name="Google Shape;308;p6"/>
          <p:cNvSpPr/>
          <p:nvPr/>
        </p:nvSpPr>
        <p:spPr>
          <a:xfrm>
            <a:off x="1051560" y="4297680"/>
            <a:ext cx="47091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1050"/>
              <a:buFont typeface="Courier New"/>
              <a:buNone/>
            </a:pPr>
            <a:r>
              <a:rPr b="0" i="0" lang="en-US" sz="1050" u="none" cap="none" strike="noStrike">
                <a:solidFill>
                  <a:srgbClr val="E4EEF7"/>
                </a:solidFill>
                <a:latin typeface="Courier New"/>
                <a:ea typeface="Courier New"/>
                <a:cs typeface="Courier New"/>
                <a:sym typeface="Courier New"/>
              </a:rPr>
              <a:t>scaler.pkl  —  feature scaling (if available)</a:t>
            </a:r>
            <a:endParaRPr b="0" i="0" sz="1050" u="none" cap="none" strike="noStrike">
              <a:solidFill>
                <a:schemeClr val="dk1"/>
              </a:solidFill>
              <a:latin typeface="Calibri"/>
              <a:ea typeface="Calibri"/>
              <a:cs typeface="Calibri"/>
              <a:sym typeface="Calibri"/>
            </a:endParaRPr>
          </a:p>
        </p:txBody>
      </p:sp>
      <p:sp>
        <p:nvSpPr>
          <p:cNvPr id="309" name="Google Shape;309;p6"/>
          <p:cNvSpPr/>
          <p:nvPr/>
        </p:nvSpPr>
        <p:spPr>
          <a:xfrm>
            <a:off x="6035040" y="3063240"/>
            <a:ext cx="5623560" cy="2880360"/>
          </a:xfrm>
          <a:prstGeom prst="roundRect">
            <a:avLst>
              <a:gd fmla="val 2857"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
          <p:cNvSpPr/>
          <p:nvPr/>
        </p:nvSpPr>
        <p:spPr>
          <a:xfrm>
            <a:off x="6309360" y="3273552"/>
            <a:ext cx="457200" cy="457200"/>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bolt_white.png" id="311" name="Google Shape;311;p6"/>
          <p:cNvPicPr preferRelativeResize="0"/>
          <p:nvPr/>
        </p:nvPicPr>
        <p:blipFill rotWithShape="1">
          <a:blip r:embed="rId11">
            <a:alphaModFix/>
          </a:blip>
          <a:srcRect b="0" l="0" r="0" t="0"/>
          <a:stretch/>
        </p:blipFill>
        <p:spPr>
          <a:xfrm>
            <a:off x="6409944" y="3374136"/>
            <a:ext cx="256032" cy="256032"/>
          </a:xfrm>
          <a:prstGeom prst="rect">
            <a:avLst/>
          </a:prstGeom>
          <a:noFill/>
          <a:ln>
            <a:noFill/>
          </a:ln>
        </p:spPr>
      </p:pic>
      <p:sp>
        <p:nvSpPr>
          <p:cNvPr id="312" name="Google Shape;312;p6"/>
          <p:cNvSpPr/>
          <p:nvPr/>
        </p:nvSpPr>
        <p:spPr>
          <a:xfrm>
            <a:off x="6903720" y="333756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50"/>
              <a:buFont typeface="Calibri"/>
              <a:buNone/>
            </a:pPr>
            <a:r>
              <a:rPr b="1" i="0" lang="en-US" sz="1350" u="none" cap="none" strike="noStrike">
                <a:solidFill>
                  <a:srgbClr val="0B1F3A"/>
                </a:solidFill>
                <a:latin typeface="Calibri"/>
                <a:ea typeface="Calibri"/>
                <a:cs typeface="Calibri"/>
                <a:sym typeface="Calibri"/>
              </a:rPr>
              <a:t>Real-Time Prediction &amp; Confidence</a:t>
            </a:r>
            <a:endParaRPr b="0" i="0" sz="1350" u="none" cap="none" strike="noStrike">
              <a:solidFill>
                <a:schemeClr val="dk1"/>
              </a:solidFill>
              <a:latin typeface="Calibri"/>
              <a:ea typeface="Calibri"/>
              <a:cs typeface="Calibri"/>
              <a:sym typeface="Calibri"/>
            </a:endParaRPr>
          </a:p>
        </p:txBody>
      </p:sp>
      <p:sp>
        <p:nvSpPr>
          <p:cNvPr id="313" name="Google Shape;313;p6"/>
          <p:cNvSpPr/>
          <p:nvPr/>
        </p:nvSpPr>
        <p:spPr>
          <a:xfrm>
            <a:off x="6309360" y="3831336"/>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6"/>
          <p:cNvSpPr/>
          <p:nvPr/>
        </p:nvSpPr>
        <p:spPr>
          <a:xfrm>
            <a:off x="6583680" y="3703320"/>
            <a:ext cx="489204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Every webcam frame is processed live — no delay for the user</a:t>
            </a:r>
            <a:endParaRPr b="0" i="0" sz="1050" u="none" cap="none" strike="noStrike">
              <a:solidFill>
                <a:schemeClr val="dk1"/>
              </a:solidFill>
              <a:latin typeface="Calibri"/>
              <a:ea typeface="Calibri"/>
              <a:cs typeface="Calibri"/>
              <a:sym typeface="Calibri"/>
            </a:endParaRPr>
          </a:p>
        </p:txBody>
      </p:sp>
      <p:sp>
        <p:nvSpPr>
          <p:cNvPr id="315" name="Google Shape;315;p6"/>
          <p:cNvSpPr/>
          <p:nvPr/>
        </p:nvSpPr>
        <p:spPr>
          <a:xfrm>
            <a:off x="6309360" y="4251960"/>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6"/>
          <p:cNvSpPr/>
          <p:nvPr/>
        </p:nvSpPr>
        <p:spPr>
          <a:xfrm>
            <a:off x="6583680" y="4123944"/>
            <a:ext cx="489204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Extracted 63 features are fed to the trained Random Forest model</a:t>
            </a:r>
            <a:endParaRPr b="0" i="0" sz="1050" u="none" cap="none" strike="noStrike">
              <a:solidFill>
                <a:schemeClr val="dk1"/>
              </a:solidFill>
              <a:latin typeface="Calibri"/>
              <a:ea typeface="Calibri"/>
              <a:cs typeface="Calibri"/>
              <a:sym typeface="Calibri"/>
            </a:endParaRPr>
          </a:p>
        </p:txBody>
      </p:sp>
      <p:sp>
        <p:nvSpPr>
          <p:cNvPr id="317" name="Google Shape;317;p6"/>
          <p:cNvSpPr/>
          <p:nvPr/>
        </p:nvSpPr>
        <p:spPr>
          <a:xfrm>
            <a:off x="6309360" y="4672584"/>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6"/>
          <p:cNvSpPr/>
          <p:nvPr/>
        </p:nvSpPr>
        <p:spPr>
          <a:xfrm>
            <a:off x="6583680" y="4544568"/>
            <a:ext cx="489204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Model outputs the predicted sign along with a confidence score</a:t>
            </a:r>
            <a:endParaRPr b="0" i="0" sz="1050" u="none" cap="none" strike="noStrike">
              <a:solidFill>
                <a:schemeClr val="dk1"/>
              </a:solidFill>
              <a:latin typeface="Calibri"/>
              <a:ea typeface="Calibri"/>
              <a:cs typeface="Calibri"/>
              <a:sym typeface="Calibri"/>
            </a:endParaRPr>
          </a:p>
        </p:txBody>
      </p:sp>
      <p:sp>
        <p:nvSpPr>
          <p:cNvPr id="319" name="Google Shape;319;p6"/>
          <p:cNvSpPr/>
          <p:nvPr/>
        </p:nvSpPr>
        <p:spPr>
          <a:xfrm>
            <a:off x="6309360" y="5093208"/>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6583680" y="4965192"/>
            <a:ext cx="489204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Prediction is decoded via Label Encoder into a readable sign/alphabet</a:t>
            </a:r>
            <a:endParaRPr b="0" i="0" sz="1050" u="none" cap="none" strike="noStrike">
              <a:solidFill>
                <a:schemeClr val="dk1"/>
              </a:solidFill>
              <a:latin typeface="Calibri"/>
              <a:ea typeface="Calibri"/>
              <a:cs typeface="Calibri"/>
              <a:sym typeface="Calibri"/>
            </a:endParaRPr>
          </a:p>
        </p:txBody>
      </p:sp>
      <p:sp>
        <p:nvSpPr>
          <p:cNvPr id="321" name="Google Shape;321;p6"/>
          <p:cNvSpPr/>
          <p:nvPr/>
        </p:nvSpPr>
        <p:spPr>
          <a:xfrm>
            <a:off x="6309360" y="5513832"/>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6583680" y="5385816"/>
            <a:ext cx="489204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Results are displayed instantly on the Streamlit interface</a:t>
            </a:r>
            <a:endParaRPr b="0" i="0" sz="1050" u="none" cap="none" strike="noStrike">
              <a:solidFill>
                <a:schemeClr val="dk1"/>
              </a:solidFill>
              <a:latin typeface="Calibri"/>
              <a:ea typeface="Calibri"/>
              <a:cs typeface="Calibri"/>
              <a:sym typeface="Calibri"/>
            </a:endParaRPr>
          </a:p>
        </p:txBody>
      </p:sp>
      <p:sp>
        <p:nvSpPr>
          <p:cNvPr id="323" name="Google Shape;323;p6"/>
          <p:cNvSpPr/>
          <p:nvPr/>
        </p:nvSpPr>
        <p:spPr>
          <a:xfrm>
            <a:off x="548640" y="4937760"/>
            <a:ext cx="5349240" cy="1051560"/>
          </a:xfrm>
          <a:prstGeom prst="roundRect">
            <a:avLst>
              <a:gd fmla="val 7826" name="adj"/>
            </a:avLst>
          </a:prstGeom>
          <a:solidFill>
            <a:srgbClr val="E8F9FA"/>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6"/>
          <p:cNvSpPr/>
          <p:nvPr/>
        </p:nvSpPr>
        <p:spPr>
          <a:xfrm>
            <a:off x="822960" y="5074920"/>
            <a:ext cx="4800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100"/>
              <a:buFont typeface="Calibri"/>
              <a:buNone/>
            </a:pPr>
            <a:r>
              <a:rPr b="0" i="1" lang="en-US" sz="1100" u="none" cap="none" strike="noStrike">
                <a:solidFill>
                  <a:srgbClr val="0B1F3A"/>
                </a:solidFill>
                <a:latin typeface="Calibri"/>
                <a:ea typeface="Calibri"/>
                <a:cs typeface="Calibri"/>
                <a:sym typeface="Calibri"/>
              </a:rPr>
              <a:t>Output: predicted alphabet / sign shown live on-screen as the user signs in front of the webcam.</a:t>
            </a:r>
            <a:endParaRPr b="0" i="0" sz="1100" u="none" cap="none" strike="noStrike">
              <a:solidFill>
                <a:schemeClr val="dk1"/>
              </a:solidFill>
              <a:latin typeface="Calibri"/>
              <a:ea typeface="Calibri"/>
              <a:cs typeface="Calibri"/>
              <a:sym typeface="Calibri"/>
            </a:endParaRPr>
          </a:p>
        </p:txBody>
      </p:sp>
      <p:sp>
        <p:nvSpPr>
          <p:cNvPr id="325" name="Google Shape;325;p6"/>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SIGN LANGUAGE RECOGNITION</a:t>
            </a:r>
            <a:endParaRPr b="0" i="0" sz="900" u="none" cap="none" strike="noStrike">
              <a:solidFill>
                <a:schemeClr val="dk1"/>
              </a:solidFill>
              <a:latin typeface="Calibri"/>
              <a:ea typeface="Calibri"/>
              <a:cs typeface="Calibri"/>
              <a:sym typeface="Calibri"/>
            </a:endParaRPr>
          </a:p>
        </p:txBody>
      </p:sp>
      <p:sp>
        <p:nvSpPr>
          <p:cNvPr id="326" name="Google Shape;326;p6"/>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6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331" name="Shape 331"/>
        <p:cNvGrpSpPr/>
        <p:nvPr/>
      </p:nvGrpSpPr>
      <p:grpSpPr>
        <a:xfrm>
          <a:off x="0" y="0"/>
          <a:ext cx="0" cy="0"/>
          <a:chOff x="0" y="0"/>
          <a:chExt cx="0" cy="0"/>
        </a:xfrm>
      </p:grpSpPr>
      <p:sp>
        <p:nvSpPr>
          <p:cNvPr id="332" name="Google Shape;332;p7"/>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MODE 2</a:t>
            </a:r>
            <a:endParaRPr b="0" i="0" sz="1200" u="none" cap="none" strike="noStrike">
              <a:solidFill>
                <a:schemeClr val="dk1"/>
              </a:solidFill>
              <a:latin typeface="Calibri"/>
              <a:ea typeface="Calibri"/>
              <a:cs typeface="Calibri"/>
              <a:sym typeface="Calibri"/>
            </a:endParaRPr>
          </a:p>
        </p:txBody>
      </p:sp>
      <p:sp>
        <p:nvSpPr>
          <p:cNvPr id="333" name="Google Shape;333;p7"/>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Gesture Control &amp; Windows Integration</a:t>
            </a:r>
            <a:endParaRPr b="0" i="0" sz="3000" u="none" cap="none" strike="noStrike">
              <a:solidFill>
                <a:schemeClr val="dk1"/>
              </a:solidFill>
              <a:latin typeface="Calibri"/>
              <a:ea typeface="Calibri"/>
              <a:cs typeface="Calibri"/>
              <a:sym typeface="Calibri"/>
            </a:endParaRPr>
          </a:p>
        </p:txBody>
      </p:sp>
      <p:graphicFrame>
        <p:nvGraphicFramePr>
          <p:cNvPr id="334" name="Google Shape;334;p7"/>
          <p:cNvGraphicFramePr/>
          <p:nvPr/>
        </p:nvGraphicFramePr>
        <p:xfrm>
          <a:off x="548640" y="1463040"/>
          <a:ext cx="3000000" cy="3000000"/>
        </p:xfrm>
        <a:graphic>
          <a:graphicData uri="http://schemas.openxmlformats.org/drawingml/2006/table">
            <a:tbl>
              <a:tblPr>
                <a:noFill/>
                <a:tableStyleId>{86E32979-ECE6-4656-987F-A692BAC7D5CD}</a:tableStyleId>
              </a:tblPr>
              <a:tblGrid>
                <a:gridCol w="2788925"/>
                <a:gridCol w="2788925"/>
              </a:tblGrid>
              <a:tr h="4279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Gesture</a:t>
                      </a:r>
                      <a:endParaRPr sz="12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0B1F3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Windows Action</a:t>
                      </a:r>
                      <a:endParaRPr sz="12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0B1F3A"/>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Thumbs Up</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Volume Up</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Thumbs Down</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Volume Down</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Fist</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Play / Pause</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Index Left</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Left Arrow</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Index Right</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Right Arrow</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Up</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Up Arrow</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Down</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Down Arrow</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OK</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Enter</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Palm</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Palm Detected</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FFFFF"/>
                    </a:solidFill>
                  </a:tcPr>
                </a:tc>
              </a:tr>
              <a:tr h="427950">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No Gesture</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c>
                  <a:txBody>
                    <a:bodyPr/>
                    <a:lstStyle/>
                    <a:p>
                      <a:pPr indent="0" lvl="0" marL="0" marR="0" rtl="0" algn="l">
                        <a:spcBef>
                          <a:spcPts val="0"/>
                        </a:spcBef>
                        <a:spcAft>
                          <a:spcPts val="0"/>
                        </a:spcAft>
                        <a:buClr>
                          <a:srgbClr val="16233B"/>
                        </a:buClr>
                        <a:buSzPts val="1100"/>
                        <a:buFont typeface="Calibri"/>
                        <a:buNone/>
                      </a:pPr>
                      <a:r>
                        <a:rPr lang="en-US" sz="1100" u="none" cap="none" strike="noStrike">
                          <a:solidFill>
                            <a:srgbClr val="16233B"/>
                          </a:solidFill>
                          <a:latin typeface="Calibri"/>
                          <a:ea typeface="Calibri"/>
                          <a:cs typeface="Calibri"/>
                          <a:sym typeface="Calibri"/>
                        </a:rPr>
                        <a:t>No Action</a:t>
                      </a:r>
                      <a:endParaRPr sz="1100" u="none" cap="none" strike="noStrike">
                        <a:latin typeface="Calibri"/>
                        <a:ea typeface="Calibri"/>
                        <a:cs typeface="Calibri"/>
                        <a:sym typeface="Calibri"/>
                      </a:endParaRPr>
                    </a:p>
                  </a:txBody>
                  <a:tcPr marT="45725" marB="45725" marR="91450" marL="91450" anchor="ctr">
                    <a:lnL cap="flat" cmpd="sng" w="9525">
                      <a:solidFill>
                        <a:srgbClr val="E1E8F0"/>
                      </a:solidFill>
                      <a:prstDash val="solid"/>
                      <a:round/>
                      <a:headEnd len="sm" w="sm" type="none"/>
                      <a:tailEnd len="sm" w="sm" type="none"/>
                    </a:lnL>
                    <a:lnR cap="flat" cmpd="sng" w="9525">
                      <a:solidFill>
                        <a:srgbClr val="E1E8F0"/>
                      </a:solidFill>
                      <a:prstDash val="solid"/>
                      <a:round/>
                      <a:headEnd len="sm" w="sm" type="none"/>
                      <a:tailEnd len="sm" w="sm" type="none"/>
                    </a:lnR>
                    <a:lnT cap="flat" cmpd="sng" w="9525">
                      <a:solidFill>
                        <a:srgbClr val="E1E8F0"/>
                      </a:solidFill>
                      <a:prstDash val="solid"/>
                      <a:round/>
                      <a:headEnd len="sm" w="sm" type="none"/>
                      <a:tailEnd len="sm" w="sm" type="none"/>
                    </a:lnT>
                    <a:lnB cap="flat" cmpd="sng" w="9525">
                      <a:solidFill>
                        <a:srgbClr val="E1E8F0"/>
                      </a:solidFill>
                      <a:prstDash val="solid"/>
                      <a:round/>
                      <a:headEnd len="sm" w="sm" type="none"/>
                      <a:tailEnd len="sm" w="sm" type="none"/>
                    </a:lnB>
                    <a:solidFill>
                      <a:srgbClr val="F2F7FB"/>
                    </a:solidFill>
                  </a:tcPr>
                </a:tc>
              </a:tr>
            </a:tbl>
          </a:graphicData>
        </a:graphic>
      </p:graphicFrame>
      <p:sp>
        <p:nvSpPr>
          <p:cNvPr id="335" name="Google Shape;335;p7"/>
          <p:cNvSpPr/>
          <p:nvPr/>
        </p:nvSpPr>
        <p:spPr>
          <a:xfrm>
            <a:off x="6355080" y="1463040"/>
            <a:ext cx="5303520" cy="2148840"/>
          </a:xfrm>
          <a:prstGeom prst="roundRect">
            <a:avLst>
              <a:gd fmla="val 3830" name="adj"/>
            </a:avLst>
          </a:prstGeom>
          <a:solidFill>
            <a:srgbClr val="0B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a:off x="6629400" y="1691640"/>
            <a:ext cx="502920" cy="50292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windows_cyan.png" id="337" name="Google Shape;337;p7"/>
          <p:cNvPicPr preferRelativeResize="0"/>
          <p:nvPr/>
        </p:nvPicPr>
        <p:blipFill rotWithShape="1">
          <a:blip r:embed="rId3">
            <a:alphaModFix/>
          </a:blip>
          <a:srcRect b="0" l="0" r="0" t="0"/>
          <a:stretch/>
        </p:blipFill>
        <p:spPr>
          <a:xfrm>
            <a:off x="6748272" y="1810512"/>
            <a:ext cx="265176" cy="265176"/>
          </a:xfrm>
          <a:prstGeom prst="rect">
            <a:avLst/>
          </a:prstGeom>
          <a:noFill/>
          <a:ln>
            <a:noFill/>
          </a:ln>
        </p:spPr>
      </p:pic>
      <p:sp>
        <p:nvSpPr>
          <p:cNvPr id="338" name="Google Shape;338;p7"/>
          <p:cNvSpPr/>
          <p:nvPr/>
        </p:nvSpPr>
        <p:spPr>
          <a:xfrm>
            <a:off x="7269480" y="1755648"/>
            <a:ext cx="4206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Model Files Used</a:t>
            </a:r>
            <a:endParaRPr b="0" i="0" sz="1300" u="none" cap="none" strike="noStrike">
              <a:solidFill>
                <a:schemeClr val="dk1"/>
              </a:solidFill>
              <a:latin typeface="Calibri"/>
              <a:ea typeface="Calibri"/>
              <a:cs typeface="Calibri"/>
              <a:sym typeface="Calibri"/>
            </a:endParaRPr>
          </a:p>
        </p:txBody>
      </p:sp>
      <p:sp>
        <p:nvSpPr>
          <p:cNvPr id="339" name="Google Shape;339;p7"/>
          <p:cNvSpPr/>
          <p:nvPr/>
        </p:nvSpPr>
        <p:spPr>
          <a:xfrm>
            <a:off x="6629400" y="2286000"/>
            <a:ext cx="1828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800"/>
              <a:buFont typeface="Calibri"/>
              <a:buNone/>
            </a:pPr>
            <a:r>
              <a:rPr b="0" i="0" lang="en-US" sz="800" u="none" cap="none" strike="noStrike">
                <a:solidFill>
                  <a:srgbClr val="00E5FF"/>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340" name="Google Shape;340;p7"/>
          <p:cNvSpPr/>
          <p:nvPr/>
        </p:nvSpPr>
        <p:spPr>
          <a:xfrm>
            <a:off x="6858000" y="2249424"/>
            <a:ext cx="46177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970"/>
              <a:buFont typeface="Courier New"/>
              <a:buNone/>
            </a:pPr>
            <a:r>
              <a:rPr b="0" i="0" lang="en-US" sz="970" u="none" cap="none" strike="noStrike">
                <a:solidFill>
                  <a:srgbClr val="E4EEF7"/>
                </a:solidFill>
                <a:latin typeface="Courier New"/>
                <a:ea typeface="Courier New"/>
                <a:cs typeface="Courier New"/>
                <a:sym typeface="Courier New"/>
              </a:rPr>
              <a:t>gesture_control_rf.pkl  —  trained gesture classifier</a:t>
            </a:r>
            <a:endParaRPr b="0" i="0" sz="970" u="none" cap="none" strike="noStrike">
              <a:solidFill>
                <a:schemeClr val="dk1"/>
              </a:solidFill>
              <a:latin typeface="Calibri"/>
              <a:ea typeface="Calibri"/>
              <a:cs typeface="Calibri"/>
              <a:sym typeface="Calibri"/>
            </a:endParaRPr>
          </a:p>
        </p:txBody>
      </p:sp>
      <p:sp>
        <p:nvSpPr>
          <p:cNvPr id="341" name="Google Shape;341;p7"/>
          <p:cNvSpPr/>
          <p:nvPr/>
        </p:nvSpPr>
        <p:spPr>
          <a:xfrm>
            <a:off x="6629400" y="2670048"/>
            <a:ext cx="1828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800"/>
              <a:buFont typeface="Calibri"/>
              <a:buNone/>
            </a:pPr>
            <a:r>
              <a:rPr b="0" i="0" lang="en-US" sz="800" u="none" cap="none" strike="noStrike">
                <a:solidFill>
                  <a:srgbClr val="00E5FF"/>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342" name="Google Shape;342;p7"/>
          <p:cNvSpPr/>
          <p:nvPr/>
        </p:nvSpPr>
        <p:spPr>
          <a:xfrm>
            <a:off x="6858000" y="2633472"/>
            <a:ext cx="46177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EF7"/>
              </a:buClr>
              <a:buSzPts val="970"/>
              <a:buFont typeface="Courier New"/>
              <a:buNone/>
            </a:pPr>
            <a:r>
              <a:rPr b="0" i="0" lang="en-US" sz="970" u="none" cap="none" strike="noStrike">
                <a:solidFill>
                  <a:srgbClr val="E4EEF7"/>
                </a:solidFill>
                <a:latin typeface="Courier New"/>
                <a:ea typeface="Courier New"/>
                <a:cs typeface="Courier New"/>
                <a:sym typeface="Courier New"/>
              </a:rPr>
              <a:t>gesture_encoder.pkl  —  label encoder for gestures</a:t>
            </a:r>
            <a:endParaRPr b="0" i="0" sz="970" u="none" cap="none" strike="noStrike">
              <a:solidFill>
                <a:schemeClr val="dk1"/>
              </a:solidFill>
              <a:latin typeface="Calibri"/>
              <a:ea typeface="Calibri"/>
              <a:cs typeface="Calibri"/>
              <a:sym typeface="Calibri"/>
            </a:endParaRPr>
          </a:p>
        </p:txBody>
      </p:sp>
      <p:sp>
        <p:nvSpPr>
          <p:cNvPr id="343" name="Google Shape;343;p7"/>
          <p:cNvSpPr/>
          <p:nvPr/>
        </p:nvSpPr>
        <p:spPr>
          <a:xfrm>
            <a:off x="6629400" y="3090672"/>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FC6DE"/>
              </a:buClr>
              <a:buSzPts val="1000"/>
              <a:buFont typeface="Calibri"/>
              <a:buNone/>
            </a:pPr>
            <a:r>
              <a:rPr b="0" i="1" lang="en-US" sz="1000" u="none" cap="none" strike="noStrike">
                <a:solidFill>
                  <a:srgbClr val="AFC6DE"/>
                </a:solidFill>
                <a:latin typeface="Calibri"/>
                <a:ea typeface="Calibri"/>
                <a:cs typeface="Calibri"/>
                <a:sym typeface="Calibri"/>
              </a:rPr>
              <a:t>Windows virtual key codes are triggered via Python's ctypes module</a:t>
            </a:r>
            <a:endParaRPr b="0" i="0" sz="1000" u="none" cap="none" strike="noStrike">
              <a:solidFill>
                <a:schemeClr val="dk1"/>
              </a:solidFill>
              <a:latin typeface="Calibri"/>
              <a:ea typeface="Calibri"/>
              <a:cs typeface="Calibri"/>
              <a:sym typeface="Calibri"/>
            </a:endParaRPr>
          </a:p>
        </p:txBody>
      </p:sp>
      <p:sp>
        <p:nvSpPr>
          <p:cNvPr id="344" name="Google Shape;344;p7"/>
          <p:cNvSpPr/>
          <p:nvPr/>
        </p:nvSpPr>
        <p:spPr>
          <a:xfrm>
            <a:off x="6355080" y="3794760"/>
            <a:ext cx="5303520" cy="2377440"/>
          </a:xfrm>
          <a:prstGeom prst="roundRect">
            <a:avLst>
              <a:gd fmla="val 3462"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6629400" y="4023360"/>
            <a:ext cx="457200" cy="457200"/>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bolt_white.png" id="346" name="Google Shape;346;p7"/>
          <p:cNvPicPr preferRelativeResize="0"/>
          <p:nvPr/>
        </p:nvPicPr>
        <p:blipFill rotWithShape="1">
          <a:blip r:embed="rId4">
            <a:alphaModFix/>
          </a:blip>
          <a:srcRect b="0" l="0" r="0" t="0"/>
          <a:stretch/>
        </p:blipFill>
        <p:spPr>
          <a:xfrm>
            <a:off x="6729984" y="4123944"/>
            <a:ext cx="256032" cy="256032"/>
          </a:xfrm>
          <a:prstGeom prst="rect">
            <a:avLst/>
          </a:prstGeom>
          <a:noFill/>
          <a:ln>
            <a:noFill/>
          </a:ln>
        </p:spPr>
      </p:pic>
      <p:sp>
        <p:nvSpPr>
          <p:cNvPr id="347" name="Google Shape;347;p7"/>
          <p:cNvSpPr/>
          <p:nvPr/>
        </p:nvSpPr>
        <p:spPr>
          <a:xfrm>
            <a:off x="7223760" y="4087368"/>
            <a:ext cx="4206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250"/>
              <a:buFont typeface="Calibri"/>
              <a:buNone/>
            </a:pPr>
            <a:r>
              <a:rPr b="1" i="0" lang="en-US" sz="1250" u="none" cap="none" strike="noStrike">
                <a:solidFill>
                  <a:srgbClr val="0B1F3A"/>
                </a:solidFill>
                <a:latin typeface="Calibri"/>
                <a:ea typeface="Calibri"/>
                <a:cs typeface="Calibri"/>
                <a:sym typeface="Calibri"/>
              </a:rPr>
              <a:t>Real-Time, Hands-Free Control</a:t>
            </a:r>
            <a:endParaRPr b="0" i="0" sz="1250" u="none" cap="none" strike="noStrike">
              <a:solidFill>
                <a:schemeClr val="dk1"/>
              </a:solidFill>
              <a:latin typeface="Calibri"/>
              <a:ea typeface="Calibri"/>
              <a:cs typeface="Calibri"/>
              <a:sym typeface="Calibri"/>
            </a:endParaRPr>
          </a:p>
        </p:txBody>
      </p:sp>
      <p:sp>
        <p:nvSpPr>
          <p:cNvPr id="348" name="Google Shape;348;p7"/>
          <p:cNvSpPr/>
          <p:nvPr/>
        </p:nvSpPr>
        <p:spPr>
          <a:xfrm>
            <a:off x="6629400" y="4608576"/>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7"/>
          <p:cNvSpPr/>
          <p:nvPr/>
        </p:nvSpPr>
        <p:spPr>
          <a:xfrm>
            <a:off x="6858000" y="4489704"/>
            <a:ext cx="461772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Recognized gesture is mapped to a specific Windows action</a:t>
            </a:r>
            <a:endParaRPr b="0" i="0" sz="1050" u="none" cap="none" strike="noStrike">
              <a:solidFill>
                <a:schemeClr val="dk1"/>
              </a:solidFill>
              <a:latin typeface="Calibri"/>
              <a:ea typeface="Calibri"/>
              <a:cs typeface="Calibri"/>
              <a:sym typeface="Calibri"/>
            </a:endParaRPr>
          </a:p>
        </p:txBody>
      </p:sp>
      <p:sp>
        <p:nvSpPr>
          <p:cNvPr id="350" name="Google Shape;350;p7"/>
          <p:cNvSpPr/>
          <p:nvPr/>
        </p:nvSpPr>
        <p:spPr>
          <a:xfrm>
            <a:off x="6629400" y="5065776"/>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6858000" y="4946904"/>
            <a:ext cx="461772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ctypes sends the equivalent virtual key press to Windows</a:t>
            </a:r>
            <a:endParaRPr b="0" i="0" sz="1050" u="none" cap="none" strike="noStrike">
              <a:solidFill>
                <a:schemeClr val="dk1"/>
              </a:solidFill>
              <a:latin typeface="Calibri"/>
              <a:ea typeface="Calibri"/>
              <a:cs typeface="Calibri"/>
              <a:sym typeface="Calibri"/>
            </a:endParaRPr>
          </a:p>
        </p:txBody>
      </p:sp>
      <p:sp>
        <p:nvSpPr>
          <p:cNvPr id="352" name="Google Shape;352;p7"/>
          <p:cNvSpPr/>
          <p:nvPr/>
        </p:nvSpPr>
        <p:spPr>
          <a:xfrm>
            <a:off x="6629400" y="5522976"/>
            <a:ext cx="128016" cy="128016"/>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7"/>
          <p:cNvSpPr/>
          <p:nvPr/>
        </p:nvSpPr>
        <p:spPr>
          <a:xfrm>
            <a:off x="6858000" y="5404104"/>
            <a:ext cx="461772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Media, navigation and system actions run instantly, hands-free</a:t>
            </a:r>
            <a:endParaRPr b="0" i="0" sz="1050" u="none" cap="none" strike="noStrike">
              <a:solidFill>
                <a:schemeClr val="dk1"/>
              </a:solidFill>
              <a:latin typeface="Calibri"/>
              <a:ea typeface="Calibri"/>
              <a:cs typeface="Calibri"/>
              <a:sym typeface="Calibri"/>
            </a:endParaRPr>
          </a:p>
        </p:txBody>
      </p:sp>
      <p:sp>
        <p:nvSpPr>
          <p:cNvPr id="354" name="Google Shape;354;p7"/>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GESTURE CONTROL &amp; WINDOWS INTEGRATION</a:t>
            </a:r>
            <a:endParaRPr b="0" i="0" sz="900" u="none" cap="none" strike="noStrike">
              <a:solidFill>
                <a:schemeClr val="dk1"/>
              </a:solidFill>
              <a:latin typeface="Calibri"/>
              <a:ea typeface="Calibri"/>
              <a:cs typeface="Calibri"/>
              <a:sym typeface="Calibri"/>
            </a:endParaRPr>
          </a:p>
        </p:txBody>
      </p:sp>
      <p:sp>
        <p:nvSpPr>
          <p:cNvPr id="355" name="Google Shape;355;p7"/>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7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360" name="Shape 360"/>
        <p:cNvGrpSpPr/>
        <p:nvPr/>
      </p:nvGrpSpPr>
      <p:grpSpPr>
        <a:xfrm>
          <a:off x="0" y="0"/>
          <a:ext cx="0" cy="0"/>
          <a:chOff x="0" y="0"/>
          <a:chExt cx="0" cy="0"/>
        </a:xfrm>
      </p:grpSpPr>
      <p:sp>
        <p:nvSpPr>
          <p:cNvPr id="361" name="Google Shape;361;p8"/>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IN ACTION</a:t>
            </a:r>
            <a:endParaRPr b="0" i="0" sz="1200" u="none" cap="none" strike="noStrike">
              <a:solidFill>
                <a:schemeClr val="dk1"/>
              </a:solidFill>
              <a:latin typeface="Calibri"/>
              <a:ea typeface="Calibri"/>
              <a:cs typeface="Calibri"/>
              <a:sym typeface="Calibri"/>
            </a:endParaRPr>
          </a:p>
        </p:txBody>
      </p:sp>
      <p:sp>
        <p:nvSpPr>
          <p:cNvPr id="362" name="Google Shape;362;p8"/>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User Interface &amp; Real-Time Working</a:t>
            </a:r>
            <a:endParaRPr b="0" i="0" sz="3000" u="none" cap="none" strike="noStrike">
              <a:solidFill>
                <a:schemeClr val="dk1"/>
              </a:solidFill>
              <a:latin typeface="Calibri"/>
              <a:ea typeface="Calibri"/>
              <a:cs typeface="Calibri"/>
              <a:sym typeface="Calibri"/>
            </a:endParaRPr>
          </a:p>
        </p:txBody>
      </p:sp>
      <p:sp>
        <p:nvSpPr>
          <p:cNvPr id="363" name="Google Shape;363;p8"/>
          <p:cNvSpPr/>
          <p:nvPr/>
        </p:nvSpPr>
        <p:spPr>
          <a:xfrm>
            <a:off x="548640" y="1417320"/>
            <a:ext cx="7406640" cy="4434840"/>
          </a:xfrm>
          <a:prstGeom prst="roundRect">
            <a:avLst>
              <a:gd fmla="val 2062" name="adj"/>
            </a:avLst>
          </a:prstGeom>
          <a:solidFill>
            <a:srgbClr val="FFFFFF"/>
          </a:solidFill>
          <a:ln cap="flat" cmpd="sng" w="12700">
            <a:solidFill>
              <a:srgbClr val="E1E8F0"/>
            </a:solidFill>
            <a:prstDash val="solid"/>
            <a:round/>
            <a:headEnd len="sm" w="sm" type="none"/>
            <a:tailEnd len="sm" w="sm" type="none"/>
          </a:ln>
          <a:effectLst>
            <a:outerShdw blurRad="76200" rotWithShape="0" algn="bl" dir="5400000" dist="38100">
              <a:srgbClr val="9AA9BE">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548640" y="1417320"/>
            <a:ext cx="7406640" cy="384048"/>
          </a:xfrm>
          <a:prstGeom prst="roundRect">
            <a:avLst>
              <a:gd fmla="val 23810" name="adj"/>
            </a:avLst>
          </a:prstGeom>
          <a:solidFill>
            <a:srgbClr val="0B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548640" y="1609344"/>
            <a:ext cx="7406640" cy="192024"/>
          </a:xfrm>
          <a:prstGeom prst="rect">
            <a:avLst/>
          </a:prstGeom>
          <a:solidFill>
            <a:srgbClr val="0B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749808" y="1554480"/>
            <a:ext cx="118872" cy="118872"/>
          </a:xfrm>
          <a:prstGeom prst="ellipse">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932688" y="1554480"/>
            <a:ext cx="118872" cy="118872"/>
          </a:xfrm>
          <a:prstGeom prst="ellipse">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1115568" y="1554480"/>
            <a:ext cx="118872" cy="118872"/>
          </a:xfrm>
          <a:prstGeom prst="ellipse">
            <a:avLst/>
          </a:prstGeom>
          <a:solidFill>
            <a:srgbClr val="06D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1463040" y="1472184"/>
            <a:ext cx="6217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F5"/>
              </a:buClr>
              <a:buSzPts val="1050"/>
              <a:buFont typeface="Calibri"/>
              <a:buNone/>
            </a:pPr>
            <a:r>
              <a:rPr b="0" i="0" lang="en-US" sz="1050" u="none" cap="none" strike="noStrike">
                <a:solidFill>
                  <a:srgbClr val="CFE3F5"/>
                </a:solidFill>
                <a:latin typeface="Calibri"/>
                <a:ea typeface="Calibri"/>
                <a:cs typeface="Calibri"/>
                <a:sym typeface="Calibri"/>
              </a:rPr>
              <a:t>GestureX  —  Streamlit Dashboard</a:t>
            </a:r>
            <a:endParaRPr b="0" i="0" sz="1050" u="none" cap="none" strike="noStrike">
              <a:solidFill>
                <a:schemeClr val="dk1"/>
              </a:solidFill>
              <a:latin typeface="Calibri"/>
              <a:ea typeface="Calibri"/>
              <a:cs typeface="Calibri"/>
              <a:sym typeface="Calibri"/>
            </a:endParaRPr>
          </a:p>
        </p:txBody>
      </p:sp>
      <p:sp>
        <p:nvSpPr>
          <p:cNvPr id="370" name="Google Shape;370;p8"/>
          <p:cNvSpPr/>
          <p:nvPr/>
        </p:nvSpPr>
        <p:spPr>
          <a:xfrm>
            <a:off x="822960" y="1984248"/>
            <a:ext cx="2377440" cy="457200"/>
          </a:xfrm>
          <a:prstGeom prst="roundRect">
            <a:avLst>
              <a:gd fmla="val 14000" name="adj"/>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822960" y="1984248"/>
            <a:ext cx="23774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Sign Language Mode</a:t>
            </a:r>
            <a:endParaRPr b="0" i="0" sz="1050" u="none" cap="none" strike="noStrike">
              <a:solidFill>
                <a:schemeClr val="dk1"/>
              </a:solidFill>
              <a:latin typeface="Calibri"/>
              <a:ea typeface="Calibri"/>
              <a:cs typeface="Calibri"/>
              <a:sym typeface="Calibri"/>
            </a:endParaRPr>
          </a:p>
        </p:txBody>
      </p:sp>
      <p:sp>
        <p:nvSpPr>
          <p:cNvPr id="372" name="Google Shape;372;p8"/>
          <p:cNvSpPr/>
          <p:nvPr/>
        </p:nvSpPr>
        <p:spPr>
          <a:xfrm>
            <a:off x="3337560" y="1984248"/>
            <a:ext cx="2377440" cy="457200"/>
          </a:xfrm>
          <a:prstGeom prst="roundRect">
            <a:avLst>
              <a:gd fmla="val 14000" name="adj"/>
            </a:avLst>
          </a:prstGeom>
          <a:solidFill>
            <a:srgbClr val="EAF3F8"/>
          </a:solidFill>
          <a:ln cap="flat" cmpd="sng" w="12700">
            <a:solidFill>
              <a:srgbClr val="E1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3337560" y="1984248"/>
            <a:ext cx="23774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1F3A"/>
              </a:buClr>
              <a:buSzPts val="1050"/>
              <a:buFont typeface="Calibri"/>
              <a:buNone/>
            </a:pPr>
            <a:r>
              <a:rPr b="1" i="0" lang="en-US" sz="1050" u="none" cap="none" strike="noStrike">
                <a:solidFill>
                  <a:srgbClr val="0B1F3A"/>
                </a:solidFill>
                <a:latin typeface="Calibri"/>
                <a:ea typeface="Calibri"/>
                <a:cs typeface="Calibri"/>
                <a:sym typeface="Calibri"/>
              </a:rPr>
              <a:t>Gesture Control Mode</a:t>
            </a:r>
            <a:endParaRPr b="0" i="0" sz="1050" u="none" cap="none" strike="noStrike">
              <a:solidFill>
                <a:schemeClr val="dk1"/>
              </a:solidFill>
              <a:latin typeface="Calibri"/>
              <a:ea typeface="Calibri"/>
              <a:cs typeface="Calibri"/>
              <a:sym typeface="Calibri"/>
            </a:endParaRPr>
          </a:p>
        </p:txBody>
      </p:sp>
      <p:sp>
        <p:nvSpPr>
          <p:cNvPr id="374" name="Google Shape;374;p8"/>
          <p:cNvSpPr/>
          <p:nvPr/>
        </p:nvSpPr>
        <p:spPr>
          <a:xfrm>
            <a:off x="822960" y="2606040"/>
            <a:ext cx="3291840" cy="2331720"/>
          </a:xfrm>
          <a:prstGeom prst="roundRect">
            <a:avLst>
              <a:gd fmla="val 2353" name="adj"/>
            </a:avLst>
          </a:prstGeom>
          <a:solidFill>
            <a:srgbClr val="0F2A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2194560" y="3291840"/>
            <a:ext cx="777240" cy="77724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_cyan.png" id="376" name="Google Shape;376;p8"/>
          <p:cNvPicPr preferRelativeResize="0"/>
          <p:nvPr/>
        </p:nvPicPr>
        <p:blipFill rotWithShape="1">
          <a:blip r:embed="rId3">
            <a:alphaModFix/>
          </a:blip>
          <a:srcRect b="0" l="0" r="0" t="0"/>
          <a:stretch/>
        </p:blipFill>
        <p:spPr>
          <a:xfrm>
            <a:off x="2340864" y="3438144"/>
            <a:ext cx="484632" cy="484632"/>
          </a:xfrm>
          <a:prstGeom prst="rect">
            <a:avLst/>
          </a:prstGeom>
          <a:noFill/>
          <a:ln>
            <a:noFill/>
          </a:ln>
        </p:spPr>
      </p:pic>
      <p:sp>
        <p:nvSpPr>
          <p:cNvPr id="377" name="Google Shape;377;p8"/>
          <p:cNvSpPr/>
          <p:nvPr/>
        </p:nvSpPr>
        <p:spPr>
          <a:xfrm>
            <a:off x="960120" y="4480560"/>
            <a:ext cx="30175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FC6DE"/>
              </a:buClr>
              <a:buSzPts val="950"/>
              <a:buFont typeface="Calibri"/>
              <a:buNone/>
            </a:pPr>
            <a:r>
              <a:rPr b="0" i="0" lang="en-US" sz="950" u="none" cap="none" strike="noStrike">
                <a:solidFill>
                  <a:srgbClr val="AFC6DE"/>
                </a:solidFill>
                <a:latin typeface="Calibri"/>
                <a:ea typeface="Calibri"/>
                <a:cs typeface="Calibri"/>
                <a:sym typeface="Calibri"/>
              </a:rPr>
              <a:t>Live Webcam Feed + Hand Landmarks</a:t>
            </a:r>
            <a:endParaRPr b="0" i="0" sz="950" u="none" cap="none" strike="noStrike">
              <a:solidFill>
                <a:schemeClr val="dk1"/>
              </a:solidFill>
              <a:latin typeface="Calibri"/>
              <a:ea typeface="Calibri"/>
              <a:cs typeface="Calibri"/>
              <a:sym typeface="Calibri"/>
            </a:endParaRPr>
          </a:p>
        </p:txBody>
      </p:sp>
      <p:sp>
        <p:nvSpPr>
          <p:cNvPr id="378" name="Google Shape;378;p8"/>
          <p:cNvSpPr/>
          <p:nvPr/>
        </p:nvSpPr>
        <p:spPr>
          <a:xfrm>
            <a:off x="4297680" y="2606040"/>
            <a:ext cx="3383280" cy="2331720"/>
          </a:xfrm>
          <a:prstGeom prst="roundRect">
            <a:avLst>
              <a:gd fmla="val 2353" name="adj"/>
            </a:avLst>
          </a:prstGeom>
          <a:solidFill>
            <a:srgbClr val="F2F7FB"/>
          </a:solidFill>
          <a:ln cap="flat" cmpd="sng" w="12700">
            <a:solidFill>
              <a:srgbClr val="E1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4498848" y="2788920"/>
            <a:ext cx="30175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850"/>
              <a:buFont typeface="Calibri"/>
              <a:buNone/>
            </a:pPr>
            <a:r>
              <a:rPr b="0" i="0" lang="en-US" sz="850" u="none" cap="none" strike="noStrike">
                <a:solidFill>
                  <a:srgbClr val="5B6B82"/>
                </a:solidFill>
                <a:latin typeface="Calibri"/>
                <a:ea typeface="Calibri"/>
                <a:cs typeface="Calibri"/>
                <a:sym typeface="Calibri"/>
              </a:rPr>
              <a:t>PREDICTION</a:t>
            </a:r>
            <a:endParaRPr b="0" i="0" sz="850" u="none" cap="none" strike="noStrike">
              <a:solidFill>
                <a:schemeClr val="dk1"/>
              </a:solidFill>
              <a:latin typeface="Calibri"/>
              <a:ea typeface="Calibri"/>
              <a:cs typeface="Calibri"/>
              <a:sym typeface="Calibri"/>
            </a:endParaRPr>
          </a:p>
        </p:txBody>
      </p:sp>
      <p:sp>
        <p:nvSpPr>
          <p:cNvPr id="380" name="Google Shape;380;p8"/>
          <p:cNvSpPr/>
          <p:nvPr/>
        </p:nvSpPr>
        <p:spPr>
          <a:xfrm>
            <a:off x="4498848" y="2990088"/>
            <a:ext cx="30175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00"/>
              <a:buFont typeface="Calibri"/>
              <a:buNone/>
            </a:pPr>
            <a:r>
              <a:rPr b="1" i="0" lang="en-US" sz="1300" u="none" cap="none" strike="noStrike">
                <a:solidFill>
                  <a:srgbClr val="0B1F3A"/>
                </a:solidFill>
                <a:latin typeface="Calibri"/>
                <a:ea typeface="Calibri"/>
                <a:cs typeface="Calibri"/>
                <a:sym typeface="Calibri"/>
              </a:rPr>
              <a:t>Sign: 'A'</a:t>
            </a:r>
            <a:endParaRPr b="0" i="0" sz="1300" u="none" cap="none" strike="noStrike">
              <a:solidFill>
                <a:schemeClr val="dk1"/>
              </a:solidFill>
              <a:latin typeface="Calibri"/>
              <a:ea typeface="Calibri"/>
              <a:cs typeface="Calibri"/>
              <a:sym typeface="Calibri"/>
            </a:endParaRPr>
          </a:p>
        </p:txBody>
      </p:sp>
      <p:sp>
        <p:nvSpPr>
          <p:cNvPr id="381" name="Google Shape;381;p8"/>
          <p:cNvSpPr/>
          <p:nvPr/>
        </p:nvSpPr>
        <p:spPr>
          <a:xfrm>
            <a:off x="4498848" y="3355848"/>
            <a:ext cx="30175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850"/>
              <a:buFont typeface="Calibri"/>
              <a:buNone/>
            </a:pPr>
            <a:r>
              <a:rPr b="0" i="0" lang="en-US" sz="850" u="none" cap="none" strike="noStrike">
                <a:solidFill>
                  <a:srgbClr val="5B6B82"/>
                </a:solidFill>
                <a:latin typeface="Calibri"/>
                <a:ea typeface="Calibri"/>
                <a:cs typeface="Calibri"/>
                <a:sym typeface="Calibri"/>
              </a:rPr>
              <a:t>CONFIDENCE</a:t>
            </a:r>
            <a:endParaRPr b="0" i="0" sz="850" u="none" cap="none" strike="noStrike">
              <a:solidFill>
                <a:schemeClr val="dk1"/>
              </a:solidFill>
              <a:latin typeface="Calibri"/>
              <a:ea typeface="Calibri"/>
              <a:cs typeface="Calibri"/>
              <a:sym typeface="Calibri"/>
            </a:endParaRPr>
          </a:p>
        </p:txBody>
      </p:sp>
      <p:sp>
        <p:nvSpPr>
          <p:cNvPr id="382" name="Google Shape;382;p8"/>
          <p:cNvSpPr/>
          <p:nvPr/>
        </p:nvSpPr>
        <p:spPr>
          <a:xfrm>
            <a:off x="4498848" y="3557016"/>
            <a:ext cx="30175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00"/>
              <a:buFont typeface="Calibri"/>
              <a:buNone/>
            </a:pPr>
            <a:r>
              <a:rPr b="1" i="0" lang="en-US" sz="1300" u="none" cap="none" strike="noStrike">
                <a:solidFill>
                  <a:srgbClr val="0B1F3A"/>
                </a:solidFill>
                <a:latin typeface="Calibri"/>
                <a:ea typeface="Calibri"/>
                <a:cs typeface="Calibri"/>
                <a:sym typeface="Calibri"/>
              </a:rPr>
              <a:t>High</a:t>
            </a:r>
            <a:endParaRPr b="0" i="0" sz="1300" u="none" cap="none" strike="noStrike">
              <a:solidFill>
                <a:schemeClr val="dk1"/>
              </a:solidFill>
              <a:latin typeface="Calibri"/>
              <a:ea typeface="Calibri"/>
              <a:cs typeface="Calibri"/>
              <a:sym typeface="Calibri"/>
            </a:endParaRPr>
          </a:p>
        </p:txBody>
      </p:sp>
      <p:sp>
        <p:nvSpPr>
          <p:cNvPr id="383" name="Google Shape;383;p8"/>
          <p:cNvSpPr/>
          <p:nvPr/>
        </p:nvSpPr>
        <p:spPr>
          <a:xfrm>
            <a:off x="4498848" y="3922776"/>
            <a:ext cx="30175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850"/>
              <a:buFont typeface="Calibri"/>
              <a:buNone/>
            </a:pPr>
            <a:r>
              <a:rPr b="0" i="0" lang="en-US" sz="850" u="none" cap="none" strike="noStrike">
                <a:solidFill>
                  <a:srgbClr val="5B6B82"/>
                </a:solidFill>
                <a:latin typeface="Calibri"/>
                <a:ea typeface="Calibri"/>
                <a:cs typeface="Calibri"/>
                <a:sym typeface="Calibri"/>
              </a:rPr>
              <a:t>WINDOWS ACTION</a:t>
            </a:r>
            <a:endParaRPr b="0" i="0" sz="850" u="none" cap="none" strike="noStrike">
              <a:solidFill>
                <a:schemeClr val="dk1"/>
              </a:solidFill>
              <a:latin typeface="Calibri"/>
              <a:ea typeface="Calibri"/>
              <a:cs typeface="Calibri"/>
              <a:sym typeface="Calibri"/>
            </a:endParaRPr>
          </a:p>
        </p:txBody>
      </p:sp>
      <p:sp>
        <p:nvSpPr>
          <p:cNvPr id="384" name="Google Shape;384;p8"/>
          <p:cNvSpPr/>
          <p:nvPr/>
        </p:nvSpPr>
        <p:spPr>
          <a:xfrm>
            <a:off x="4498848" y="4123944"/>
            <a:ext cx="30175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00"/>
              <a:buFont typeface="Calibri"/>
              <a:buNone/>
            </a:pPr>
            <a:r>
              <a:rPr b="1" i="0" lang="en-US" sz="1300" u="none" cap="none" strike="noStrike">
                <a:solidFill>
                  <a:srgbClr val="0B1F3A"/>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85" name="Google Shape;385;p8"/>
          <p:cNvSpPr/>
          <p:nvPr/>
        </p:nvSpPr>
        <p:spPr>
          <a:xfrm>
            <a:off x="4498848" y="4489704"/>
            <a:ext cx="30175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850"/>
              <a:buFont typeface="Calibri"/>
              <a:buNone/>
            </a:pPr>
            <a:r>
              <a:rPr b="0" i="0" lang="en-US" sz="850" u="none" cap="none" strike="noStrike">
                <a:solidFill>
                  <a:srgbClr val="5B6B82"/>
                </a:solidFill>
                <a:latin typeface="Calibri"/>
                <a:ea typeface="Calibri"/>
                <a:cs typeface="Calibri"/>
                <a:sym typeface="Calibri"/>
              </a:rPr>
              <a:t>MODEL LOADED</a:t>
            </a:r>
            <a:endParaRPr b="0" i="0" sz="850" u="none" cap="none" strike="noStrike">
              <a:solidFill>
                <a:schemeClr val="dk1"/>
              </a:solidFill>
              <a:latin typeface="Calibri"/>
              <a:ea typeface="Calibri"/>
              <a:cs typeface="Calibri"/>
              <a:sym typeface="Calibri"/>
            </a:endParaRPr>
          </a:p>
        </p:txBody>
      </p:sp>
      <p:sp>
        <p:nvSpPr>
          <p:cNvPr id="386" name="Google Shape;386;p8"/>
          <p:cNvSpPr/>
          <p:nvPr/>
        </p:nvSpPr>
        <p:spPr>
          <a:xfrm>
            <a:off x="4498848" y="4690872"/>
            <a:ext cx="30175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300"/>
              <a:buFont typeface="Calibri"/>
              <a:buNone/>
            </a:pPr>
            <a:r>
              <a:rPr b="1" i="0" lang="en-US" sz="1300" u="none" cap="none" strike="noStrike">
                <a:solidFill>
                  <a:srgbClr val="0B1F3A"/>
                </a:solidFill>
                <a:latin typeface="Calibri"/>
                <a:ea typeface="Calibri"/>
                <a:cs typeface="Calibri"/>
                <a:sym typeface="Calibri"/>
              </a:rPr>
              <a:t>random_forest.pkl</a:t>
            </a:r>
            <a:endParaRPr b="0" i="0" sz="1300" u="none" cap="none" strike="noStrike">
              <a:solidFill>
                <a:schemeClr val="dk1"/>
              </a:solidFill>
              <a:latin typeface="Calibri"/>
              <a:ea typeface="Calibri"/>
              <a:cs typeface="Calibri"/>
              <a:sym typeface="Calibri"/>
            </a:endParaRPr>
          </a:p>
        </p:txBody>
      </p:sp>
      <p:sp>
        <p:nvSpPr>
          <p:cNvPr id="387" name="Google Shape;387;p8"/>
          <p:cNvSpPr/>
          <p:nvPr/>
        </p:nvSpPr>
        <p:spPr>
          <a:xfrm>
            <a:off x="822960" y="5074920"/>
            <a:ext cx="6858000" cy="502920"/>
          </a:xfrm>
          <a:prstGeom prst="roundRect">
            <a:avLst>
              <a:gd fmla="val 12727" name="adj"/>
            </a:avLst>
          </a:prstGeom>
          <a:solidFill>
            <a:srgbClr val="E8F9FA"/>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8"/>
          <p:cNvSpPr/>
          <p:nvPr/>
        </p:nvSpPr>
        <p:spPr>
          <a:xfrm>
            <a:off x="1005840" y="5074920"/>
            <a:ext cx="64922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950"/>
              <a:buFont typeface="Calibri"/>
              <a:buNone/>
            </a:pPr>
            <a:r>
              <a:rPr b="0" i="1" lang="en-US" sz="950" u="none" cap="none" strike="noStrike">
                <a:solidFill>
                  <a:srgbClr val="0B1F3A"/>
                </a:solidFill>
                <a:latin typeface="Calibri"/>
                <a:ea typeface="Calibri"/>
                <a:cs typeface="Calibri"/>
                <a:sym typeface="Calibri"/>
              </a:rPr>
              <a:t>Dashboard shows: camera feed · landmarks · prediction · confidence · Windows action · loaded model paths</a:t>
            </a:r>
            <a:endParaRPr b="0" i="0" sz="950" u="none" cap="none" strike="noStrike">
              <a:solidFill>
                <a:schemeClr val="dk1"/>
              </a:solidFill>
              <a:latin typeface="Calibri"/>
              <a:ea typeface="Calibri"/>
              <a:cs typeface="Calibri"/>
              <a:sym typeface="Calibri"/>
            </a:endParaRPr>
          </a:p>
        </p:txBody>
      </p:sp>
      <p:sp>
        <p:nvSpPr>
          <p:cNvPr id="389" name="Google Shape;389;p8"/>
          <p:cNvSpPr/>
          <p:nvPr/>
        </p:nvSpPr>
        <p:spPr>
          <a:xfrm>
            <a:off x="8183880" y="1417320"/>
            <a:ext cx="3474720" cy="4434840"/>
          </a:xfrm>
          <a:prstGeom prst="roundRect">
            <a:avLst>
              <a:gd fmla="val 2368" name="adj"/>
            </a:avLst>
          </a:prstGeom>
          <a:solidFill>
            <a:srgbClr val="0B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a:off x="8458200" y="1645920"/>
            <a:ext cx="30175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1150"/>
              <a:buFont typeface="Calibri"/>
              <a:buNone/>
            </a:pPr>
            <a:r>
              <a:rPr b="1" i="0" lang="en-US" sz="1150" u="none" cap="none" strike="noStrike">
                <a:solidFill>
                  <a:srgbClr val="00E5FF"/>
                </a:solidFill>
                <a:latin typeface="Calibri"/>
                <a:ea typeface="Calibri"/>
                <a:cs typeface="Calibri"/>
                <a:sym typeface="Calibri"/>
              </a:rPr>
              <a:t>FRAME-BY-FRAME WORKING</a:t>
            </a:r>
            <a:endParaRPr b="0" i="0" sz="1150" u="none" cap="none" strike="noStrike">
              <a:solidFill>
                <a:schemeClr val="dk1"/>
              </a:solidFill>
              <a:latin typeface="Calibri"/>
              <a:ea typeface="Calibri"/>
              <a:cs typeface="Calibri"/>
              <a:sym typeface="Calibri"/>
            </a:endParaRPr>
          </a:p>
        </p:txBody>
      </p:sp>
      <p:sp>
        <p:nvSpPr>
          <p:cNvPr id="391" name="Google Shape;391;p8"/>
          <p:cNvSpPr/>
          <p:nvPr/>
        </p:nvSpPr>
        <p:spPr>
          <a:xfrm>
            <a:off x="8458200" y="2286000"/>
            <a:ext cx="347472" cy="347472"/>
          </a:xfrm>
          <a:prstGeom prst="ellipse">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a:off x="8458200" y="2286000"/>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200"/>
              <a:buFont typeface="Calibri"/>
              <a:buNone/>
            </a:pPr>
            <a:r>
              <a:rPr b="1" i="0" lang="en-US" sz="1200" u="none" cap="none" strike="noStrike">
                <a:solidFill>
                  <a:srgbClr val="00E5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93" name="Google Shape;393;p8"/>
          <p:cNvSpPr/>
          <p:nvPr/>
        </p:nvSpPr>
        <p:spPr>
          <a:xfrm>
            <a:off x="8915400" y="2249424"/>
            <a:ext cx="265176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000"/>
              <a:buFont typeface="Calibri"/>
              <a:buNone/>
            </a:pPr>
            <a:r>
              <a:rPr b="0" i="0" lang="en-US" sz="1000" u="none" cap="none" strike="noStrike">
                <a:solidFill>
                  <a:srgbClr val="E4EEF7"/>
                </a:solidFill>
                <a:latin typeface="Calibri"/>
                <a:ea typeface="Calibri"/>
                <a:cs typeface="Calibri"/>
                <a:sym typeface="Calibri"/>
              </a:rPr>
              <a:t>Capture current webcam frame</a:t>
            </a:r>
            <a:endParaRPr b="0" i="0" sz="1000" u="none" cap="none" strike="noStrike">
              <a:solidFill>
                <a:schemeClr val="dk1"/>
              </a:solidFill>
              <a:latin typeface="Calibri"/>
              <a:ea typeface="Calibri"/>
              <a:cs typeface="Calibri"/>
              <a:sym typeface="Calibri"/>
            </a:endParaRPr>
          </a:p>
        </p:txBody>
      </p:sp>
      <p:sp>
        <p:nvSpPr>
          <p:cNvPr id="394" name="Google Shape;394;p8"/>
          <p:cNvSpPr/>
          <p:nvPr/>
        </p:nvSpPr>
        <p:spPr>
          <a:xfrm>
            <a:off x="8458200" y="2944368"/>
            <a:ext cx="347472" cy="347472"/>
          </a:xfrm>
          <a:prstGeom prst="ellipse">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a:off x="8458200" y="294436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200"/>
              <a:buFont typeface="Calibri"/>
              <a:buNone/>
            </a:pPr>
            <a:r>
              <a:rPr b="1" i="0" lang="en-US" sz="1200" u="none" cap="none" strike="noStrike">
                <a:solidFill>
                  <a:srgbClr val="00E5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96" name="Google Shape;396;p8"/>
          <p:cNvSpPr/>
          <p:nvPr/>
        </p:nvSpPr>
        <p:spPr>
          <a:xfrm>
            <a:off x="8915400" y="2907792"/>
            <a:ext cx="265176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000"/>
              <a:buFont typeface="Calibri"/>
              <a:buNone/>
            </a:pPr>
            <a:r>
              <a:rPr b="0" i="0" lang="en-US" sz="1000" u="none" cap="none" strike="noStrike">
                <a:solidFill>
                  <a:srgbClr val="E4EEF7"/>
                </a:solidFill>
                <a:latin typeface="Calibri"/>
                <a:ea typeface="Calibri"/>
                <a:cs typeface="Calibri"/>
                <a:sym typeface="Calibri"/>
              </a:rPr>
              <a:t>Detect hand &amp; extract 21 landmarks</a:t>
            </a:r>
            <a:endParaRPr b="0" i="0" sz="1000" u="none" cap="none" strike="noStrike">
              <a:solidFill>
                <a:schemeClr val="dk1"/>
              </a:solidFill>
              <a:latin typeface="Calibri"/>
              <a:ea typeface="Calibri"/>
              <a:cs typeface="Calibri"/>
              <a:sym typeface="Calibri"/>
            </a:endParaRPr>
          </a:p>
        </p:txBody>
      </p:sp>
      <p:sp>
        <p:nvSpPr>
          <p:cNvPr id="397" name="Google Shape;397;p8"/>
          <p:cNvSpPr/>
          <p:nvPr/>
        </p:nvSpPr>
        <p:spPr>
          <a:xfrm>
            <a:off x="8458200" y="3602736"/>
            <a:ext cx="347472" cy="347472"/>
          </a:xfrm>
          <a:prstGeom prst="ellipse">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a:off x="8458200" y="360273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200"/>
              <a:buFont typeface="Calibri"/>
              <a:buNone/>
            </a:pPr>
            <a:r>
              <a:rPr b="1" i="0" lang="en-US" sz="1200" u="none" cap="none" strike="noStrike">
                <a:solidFill>
                  <a:srgbClr val="00E5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99" name="Google Shape;399;p8"/>
          <p:cNvSpPr/>
          <p:nvPr/>
        </p:nvSpPr>
        <p:spPr>
          <a:xfrm>
            <a:off x="8915400" y="3566160"/>
            <a:ext cx="265176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000"/>
              <a:buFont typeface="Calibri"/>
              <a:buNone/>
            </a:pPr>
            <a:r>
              <a:rPr b="0" i="0" lang="en-US" sz="1000" u="none" cap="none" strike="noStrike">
                <a:solidFill>
                  <a:srgbClr val="E4EEF7"/>
                </a:solidFill>
                <a:latin typeface="Calibri"/>
                <a:ea typeface="Calibri"/>
                <a:cs typeface="Calibri"/>
                <a:sym typeface="Calibri"/>
              </a:rPr>
              <a:t>Convert to 63 numeric features</a:t>
            </a:r>
            <a:endParaRPr b="0" i="0" sz="1000" u="none" cap="none" strike="noStrike">
              <a:solidFill>
                <a:schemeClr val="dk1"/>
              </a:solidFill>
              <a:latin typeface="Calibri"/>
              <a:ea typeface="Calibri"/>
              <a:cs typeface="Calibri"/>
              <a:sym typeface="Calibri"/>
            </a:endParaRPr>
          </a:p>
        </p:txBody>
      </p:sp>
      <p:sp>
        <p:nvSpPr>
          <p:cNvPr id="400" name="Google Shape;400;p8"/>
          <p:cNvSpPr/>
          <p:nvPr/>
        </p:nvSpPr>
        <p:spPr>
          <a:xfrm>
            <a:off x="8458200" y="4261104"/>
            <a:ext cx="347472" cy="347472"/>
          </a:xfrm>
          <a:prstGeom prst="ellipse">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8"/>
          <p:cNvSpPr/>
          <p:nvPr/>
        </p:nvSpPr>
        <p:spPr>
          <a:xfrm>
            <a:off x="8458200" y="426110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200"/>
              <a:buFont typeface="Calibri"/>
              <a:buNone/>
            </a:pPr>
            <a:r>
              <a:rPr b="1" i="0" lang="en-US" sz="1200" u="none" cap="none" strike="noStrike">
                <a:solidFill>
                  <a:srgbClr val="00E5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402" name="Google Shape;402;p8"/>
          <p:cNvSpPr/>
          <p:nvPr/>
        </p:nvSpPr>
        <p:spPr>
          <a:xfrm>
            <a:off x="8915400" y="4224528"/>
            <a:ext cx="265176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000"/>
              <a:buFont typeface="Calibri"/>
              <a:buNone/>
            </a:pPr>
            <a:r>
              <a:rPr b="0" i="0" lang="en-US" sz="1000" u="none" cap="none" strike="noStrike">
                <a:solidFill>
                  <a:srgbClr val="E4EEF7"/>
                </a:solidFill>
                <a:latin typeface="Calibri"/>
                <a:ea typeface="Calibri"/>
                <a:cs typeface="Calibri"/>
                <a:sym typeface="Calibri"/>
              </a:rPr>
              <a:t>Predict using trained model</a:t>
            </a:r>
            <a:endParaRPr b="0" i="0" sz="1000" u="none" cap="none" strike="noStrike">
              <a:solidFill>
                <a:schemeClr val="dk1"/>
              </a:solidFill>
              <a:latin typeface="Calibri"/>
              <a:ea typeface="Calibri"/>
              <a:cs typeface="Calibri"/>
              <a:sym typeface="Calibri"/>
            </a:endParaRPr>
          </a:p>
        </p:txBody>
      </p:sp>
      <p:sp>
        <p:nvSpPr>
          <p:cNvPr id="403" name="Google Shape;403;p8"/>
          <p:cNvSpPr/>
          <p:nvPr/>
        </p:nvSpPr>
        <p:spPr>
          <a:xfrm>
            <a:off x="8458200" y="4919472"/>
            <a:ext cx="347472" cy="347472"/>
          </a:xfrm>
          <a:prstGeom prst="ellipse">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8"/>
          <p:cNvSpPr/>
          <p:nvPr/>
        </p:nvSpPr>
        <p:spPr>
          <a:xfrm>
            <a:off x="8458200" y="491947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200"/>
              <a:buFont typeface="Calibri"/>
              <a:buNone/>
            </a:pPr>
            <a:r>
              <a:rPr b="1" i="0" lang="en-US" sz="1200" u="none" cap="none" strike="noStrike">
                <a:solidFill>
                  <a:srgbClr val="00E5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405" name="Google Shape;405;p8"/>
          <p:cNvSpPr/>
          <p:nvPr/>
        </p:nvSpPr>
        <p:spPr>
          <a:xfrm>
            <a:off x="8915400" y="4882896"/>
            <a:ext cx="265176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000"/>
              <a:buFont typeface="Calibri"/>
              <a:buNone/>
            </a:pPr>
            <a:r>
              <a:rPr b="0" i="0" lang="en-US" sz="1000" u="none" cap="none" strike="noStrike">
                <a:solidFill>
                  <a:srgbClr val="E4EEF7"/>
                </a:solidFill>
                <a:latin typeface="Calibri"/>
                <a:ea typeface="Calibri"/>
                <a:cs typeface="Calibri"/>
                <a:sym typeface="Calibri"/>
              </a:rPr>
              <a:t>Display sign / trigger Windows action</a:t>
            </a:r>
            <a:endParaRPr b="0" i="0" sz="1000" u="none" cap="none" strike="noStrike">
              <a:solidFill>
                <a:schemeClr val="dk1"/>
              </a:solidFill>
              <a:latin typeface="Calibri"/>
              <a:ea typeface="Calibri"/>
              <a:cs typeface="Calibri"/>
              <a:sym typeface="Calibri"/>
            </a:endParaRPr>
          </a:p>
        </p:txBody>
      </p:sp>
      <p:sp>
        <p:nvSpPr>
          <p:cNvPr id="406" name="Google Shape;406;p8"/>
          <p:cNvSpPr/>
          <p:nvPr/>
        </p:nvSpPr>
        <p:spPr>
          <a:xfrm>
            <a:off x="8458200" y="5577840"/>
            <a:ext cx="347472" cy="347472"/>
          </a:xfrm>
          <a:prstGeom prst="ellipse">
            <a:avLst/>
          </a:prstGeom>
          <a:solidFill>
            <a:srgbClr val="12345C"/>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8"/>
          <p:cNvSpPr/>
          <p:nvPr/>
        </p:nvSpPr>
        <p:spPr>
          <a:xfrm>
            <a:off x="8458200" y="5577840"/>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E5FF"/>
              </a:buClr>
              <a:buSzPts val="1200"/>
              <a:buFont typeface="Calibri"/>
              <a:buNone/>
            </a:pPr>
            <a:r>
              <a:rPr b="1" i="0" lang="en-US" sz="1200" u="none" cap="none" strike="noStrike">
                <a:solidFill>
                  <a:srgbClr val="00E5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408" name="Google Shape;408;p8"/>
          <p:cNvSpPr/>
          <p:nvPr/>
        </p:nvSpPr>
        <p:spPr>
          <a:xfrm>
            <a:off x="8915400" y="5541264"/>
            <a:ext cx="265176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4EEF7"/>
              </a:buClr>
              <a:buSzPts val="1000"/>
              <a:buFont typeface="Calibri"/>
              <a:buNone/>
            </a:pPr>
            <a:r>
              <a:rPr b="0" i="0" lang="en-US" sz="1000" u="none" cap="none" strike="noStrike">
                <a:solidFill>
                  <a:srgbClr val="E4EEF7"/>
                </a:solidFill>
                <a:latin typeface="Calibri"/>
                <a:ea typeface="Calibri"/>
                <a:cs typeface="Calibri"/>
                <a:sym typeface="Calibri"/>
              </a:rPr>
              <a:t>Move to the next frame — repeat</a:t>
            </a:r>
            <a:endParaRPr b="0" i="0" sz="1000" u="none" cap="none" strike="noStrike">
              <a:solidFill>
                <a:schemeClr val="dk1"/>
              </a:solidFill>
              <a:latin typeface="Calibri"/>
              <a:ea typeface="Calibri"/>
              <a:cs typeface="Calibri"/>
              <a:sym typeface="Calibri"/>
            </a:endParaRPr>
          </a:p>
        </p:txBody>
      </p:sp>
      <p:sp>
        <p:nvSpPr>
          <p:cNvPr id="409" name="Google Shape;409;p8"/>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USER INTERFACE &amp; REAL-TIME WORKING</a:t>
            </a:r>
            <a:endParaRPr b="0" i="0" sz="900" u="none" cap="none" strike="noStrike">
              <a:solidFill>
                <a:schemeClr val="dk1"/>
              </a:solidFill>
              <a:latin typeface="Calibri"/>
              <a:ea typeface="Calibri"/>
              <a:cs typeface="Calibri"/>
              <a:sym typeface="Calibri"/>
            </a:endParaRPr>
          </a:p>
        </p:txBody>
      </p:sp>
      <p:sp>
        <p:nvSpPr>
          <p:cNvPr id="410" name="Google Shape;410;p8"/>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8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415" name="Shape 415"/>
        <p:cNvGrpSpPr/>
        <p:nvPr/>
      </p:nvGrpSpPr>
      <p:grpSpPr>
        <a:xfrm>
          <a:off x="0" y="0"/>
          <a:ext cx="0" cy="0"/>
          <a:chOff x="0" y="0"/>
          <a:chExt cx="0" cy="0"/>
        </a:xfrm>
      </p:grpSpPr>
      <p:sp>
        <p:nvSpPr>
          <p:cNvPr id="416" name="Google Shape;416;p9"/>
          <p:cNvSpPr/>
          <p:nvPr/>
        </p:nvSpPr>
        <p:spPr>
          <a:xfrm>
            <a:off x="548640" y="320040"/>
            <a:ext cx="91440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200"/>
              <a:buFont typeface="Calibri"/>
              <a:buNone/>
            </a:pPr>
            <a:r>
              <a:rPr b="1" i="0" lang="en-US" sz="1200" u="none" cap="none" strike="noStrike">
                <a:solidFill>
                  <a:srgbClr val="00C2CB"/>
                </a:solidFill>
                <a:latin typeface="Calibri"/>
                <a:ea typeface="Calibri"/>
                <a:cs typeface="Calibri"/>
                <a:sym typeface="Calibri"/>
              </a:rPr>
              <a:t>WHERE WE STAND</a:t>
            </a:r>
            <a:endParaRPr b="0" i="0" sz="1200" u="none" cap="none" strike="noStrike">
              <a:solidFill>
                <a:schemeClr val="dk1"/>
              </a:solidFill>
              <a:latin typeface="Calibri"/>
              <a:ea typeface="Calibri"/>
              <a:cs typeface="Calibri"/>
              <a:sym typeface="Calibri"/>
            </a:endParaRPr>
          </a:p>
        </p:txBody>
      </p:sp>
      <p:sp>
        <p:nvSpPr>
          <p:cNvPr id="417" name="Google Shape;417;p9"/>
          <p:cNvSpPr/>
          <p:nvPr/>
        </p:nvSpPr>
        <p:spPr>
          <a:xfrm>
            <a:off x="548640" y="566928"/>
            <a:ext cx="10789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3000"/>
              <a:buFont typeface="Cambria"/>
              <a:buNone/>
            </a:pPr>
            <a:r>
              <a:rPr b="1" i="0" lang="en-US" sz="3000" u="none" cap="none" strike="noStrike">
                <a:solidFill>
                  <a:srgbClr val="0B1F3A"/>
                </a:solidFill>
                <a:latin typeface="Cambria"/>
                <a:ea typeface="Cambria"/>
                <a:cs typeface="Cambria"/>
                <a:sym typeface="Cambria"/>
              </a:rPr>
              <a:t>Results, Advantages, Limitations &amp; Future Scope</a:t>
            </a:r>
            <a:endParaRPr b="0" i="0" sz="3000" u="none" cap="none" strike="noStrike">
              <a:solidFill>
                <a:schemeClr val="dk1"/>
              </a:solidFill>
              <a:latin typeface="Calibri"/>
              <a:ea typeface="Calibri"/>
              <a:cs typeface="Calibri"/>
              <a:sym typeface="Calibri"/>
            </a:endParaRPr>
          </a:p>
        </p:txBody>
      </p:sp>
      <p:sp>
        <p:nvSpPr>
          <p:cNvPr id="418" name="Google Shape;418;p9"/>
          <p:cNvSpPr/>
          <p:nvPr/>
        </p:nvSpPr>
        <p:spPr>
          <a:xfrm>
            <a:off x="548640" y="1417320"/>
            <a:ext cx="5440680" cy="2331720"/>
          </a:xfrm>
          <a:prstGeom prst="roundRect">
            <a:avLst>
              <a:gd fmla="val 3529"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a:off x="749808" y="1600200"/>
            <a:ext cx="420624" cy="420624"/>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check_navy.png" id="420" name="Google Shape;420;p9"/>
          <p:cNvPicPr preferRelativeResize="0"/>
          <p:nvPr/>
        </p:nvPicPr>
        <p:blipFill rotWithShape="1">
          <a:blip r:embed="rId3">
            <a:alphaModFix/>
          </a:blip>
          <a:srcRect b="0" l="0" r="0" t="0"/>
          <a:stretch/>
        </p:blipFill>
        <p:spPr>
          <a:xfrm>
            <a:off x="841248" y="1691640"/>
            <a:ext cx="237744" cy="237744"/>
          </a:xfrm>
          <a:prstGeom prst="rect">
            <a:avLst/>
          </a:prstGeom>
          <a:noFill/>
          <a:ln>
            <a:noFill/>
          </a:ln>
        </p:spPr>
      </p:pic>
      <p:sp>
        <p:nvSpPr>
          <p:cNvPr id="421" name="Google Shape;421;p9"/>
          <p:cNvSpPr/>
          <p:nvPr/>
        </p:nvSpPr>
        <p:spPr>
          <a:xfrm>
            <a:off x="1280160" y="1636776"/>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500"/>
              <a:buFont typeface="Calibri"/>
              <a:buNone/>
            </a:pPr>
            <a:r>
              <a:rPr b="1" i="0" lang="en-US" sz="1500" u="none" cap="none" strike="noStrike">
                <a:solidFill>
                  <a:srgbClr val="0B1F3A"/>
                </a:solidFill>
                <a:latin typeface="Calibri"/>
                <a:ea typeface="Calibri"/>
                <a:cs typeface="Calibri"/>
                <a:sym typeface="Calibri"/>
              </a:rPr>
              <a:t>Results</a:t>
            </a:r>
            <a:endParaRPr b="0" i="0" sz="1500" u="none" cap="none" strike="noStrike">
              <a:solidFill>
                <a:schemeClr val="dk1"/>
              </a:solidFill>
              <a:latin typeface="Calibri"/>
              <a:ea typeface="Calibri"/>
              <a:cs typeface="Calibri"/>
              <a:sym typeface="Calibri"/>
            </a:endParaRPr>
          </a:p>
        </p:txBody>
      </p:sp>
      <p:sp>
        <p:nvSpPr>
          <p:cNvPr id="422" name="Google Shape;422;p9"/>
          <p:cNvSpPr/>
          <p:nvPr/>
        </p:nvSpPr>
        <p:spPr>
          <a:xfrm>
            <a:off x="804672" y="224028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
          <p:cNvSpPr/>
          <p:nvPr/>
        </p:nvSpPr>
        <p:spPr>
          <a:xfrm>
            <a:off x="1024128" y="214884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Real-time hand detection</a:t>
            </a:r>
            <a:endParaRPr b="0" i="0" sz="1050" u="none" cap="none" strike="noStrike">
              <a:solidFill>
                <a:schemeClr val="dk1"/>
              </a:solidFill>
              <a:latin typeface="Calibri"/>
              <a:ea typeface="Calibri"/>
              <a:cs typeface="Calibri"/>
              <a:sym typeface="Calibri"/>
            </a:endParaRPr>
          </a:p>
        </p:txBody>
      </p:sp>
      <p:sp>
        <p:nvSpPr>
          <p:cNvPr id="424" name="Google Shape;424;p9"/>
          <p:cNvSpPr/>
          <p:nvPr/>
        </p:nvSpPr>
        <p:spPr>
          <a:xfrm>
            <a:off x="804672" y="260604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9"/>
          <p:cNvSpPr/>
          <p:nvPr/>
        </p:nvSpPr>
        <p:spPr>
          <a:xfrm>
            <a:off x="1024128" y="251460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Sign recognition</a:t>
            </a:r>
            <a:endParaRPr b="0" i="0" sz="1050" u="none" cap="none" strike="noStrike">
              <a:solidFill>
                <a:schemeClr val="dk1"/>
              </a:solidFill>
              <a:latin typeface="Calibri"/>
              <a:ea typeface="Calibri"/>
              <a:cs typeface="Calibri"/>
              <a:sym typeface="Calibri"/>
            </a:endParaRPr>
          </a:p>
        </p:txBody>
      </p:sp>
      <p:sp>
        <p:nvSpPr>
          <p:cNvPr id="426" name="Google Shape;426;p9"/>
          <p:cNvSpPr/>
          <p:nvPr/>
        </p:nvSpPr>
        <p:spPr>
          <a:xfrm>
            <a:off x="804672" y="297180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9"/>
          <p:cNvSpPr/>
          <p:nvPr/>
        </p:nvSpPr>
        <p:spPr>
          <a:xfrm>
            <a:off x="1024128" y="288036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Gesture recognition</a:t>
            </a:r>
            <a:endParaRPr b="0" i="0" sz="1050" u="none" cap="none" strike="noStrike">
              <a:solidFill>
                <a:schemeClr val="dk1"/>
              </a:solidFill>
              <a:latin typeface="Calibri"/>
              <a:ea typeface="Calibri"/>
              <a:cs typeface="Calibri"/>
              <a:sym typeface="Calibri"/>
            </a:endParaRPr>
          </a:p>
        </p:txBody>
      </p:sp>
      <p:sp>
        <p:nvSpPr>
          <p:cNvPr id="428" name="Google Shape;428;p9"/>
          <p:cNvSpPr/>
          <p:nvPr/>
        </p:nvSpPr>
        <p:spPr>
          <a:xfrm>
            <a:off x="3525012" y="224028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9"/>
          <p:cNvSpPr/>
          <p:nvPr/>
        </p:nvSpPr>
        <p:spPr>
          <a:xfrm>
            <a:off x="3744468" y="214884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Windows control</a:t>
            </a:r>
            <a:endParaRPr b="0" i="0" sz="1050" u="none" cap="none" strike="noStrike">
              <a:solidFill>
                <a:schemeClr val="dk1"/>
              </a:solidFill>
              <a:latin typeface="Calibri"/>
              <a:ea typeface="Calibri"/>
              <a:cs typeface="Calibri"/>
              <a:sym typeface="Calibri"/>
            </a:endParaRPr>
          </a:p>
        </p:txBody>
      </p:sp>
      <p:sp>
        <p:nvSpPr>
          <p:cNvPr id="430" name="Google Shape;430;p9"/>
          <p:cNvSpPr/>
          <p:nvPr/>
        </p:nvSpPr>
        <p:spPr>
          <a:xfrm>
            <a:off x="3525012" y="260604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9"/>
          <p:cNvSpPr/>
          <p:nvPr/>
        </p:nvSpPr>
        <p:spPr>
          <a:xfrm>
            <a:off x="3744468" y="251460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Integrated Streamlit UI</a:t>
            </a:r>
            <a:endParaRPr b="0" i="0" sz="1050" u="none" cap="none" strike="noStrike">
              <a:solidFill>
                <a:schemeClr val="dk1"/>
              </a:solidFill>
              <a:latin typeface="Calibri"/>
              <a:ea typeface="Calibri"/>
              <a:cs typeface="Calibri"/>
              <a:sym typeface="Calibri"/>
            </a:endParaRPr>
          </a:p>
        </p:txBody>
      </p:sp>
      <p:sp>
        <p:nvSpPr>
          <p:cNvPr id="432" name="Google Shape;432;p9"/>
          <p:cNvSpPr/>
          <p:nvPr/>
        </p:nvSpPr>
        <p:spPr>
          <a:xfrm>
            <a:off x="6172200" y="1417320"/>
            <a:ext cx="5440680" cy="2331720"/>
          </a:xfrm>
          <a:prstGeom prst="roundRect">
            <a:avLst>
              <a:gd fmla="val 3529"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9"/>
          <p:cNvSpPr/>
          <p:nvPr/>
        </p:nvSpPr>
        <p:spPr>
          <a:xfrm>
            <a:off x="6373368" y="1600200"/>
            <a:ext cx="420624" cy="420624"/>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star_navy.png" id="434" name="Google Shape;434;p9"/>
          <p:cNvPicPr preferRelativeResize="0"/>
          <p:nvPr/>
        </p:nvPicPr>
        <p:blipFill rotWithShape="1">
          <a:blip r:embed="rId4">
            <a:alphaModFix/>
          </a:blip>
          <a:srcRect b="0" l="0" r="0" t="0"/>
          <a:stretch/>
        </p:blipFill>
        <p:spPr>
          <a:xfrm>
            <a:off x="6464808" y="1691640"/>
            <a:ext cx="237744" cy="237744"/>
          </a:xfrm>
          <a:prstGeom prst="rect">
            <a:avLst/>
          </a:prstGeom>
          <a:noFill/>
          <a:ln>
            <a:noFill/>
          </a:ln>
        </p:spPr>
      </p:pic>
      <p:sp>
        <p:nvSpPr>
          <p:cNvPr id="435" name="Google Shape;435;p9"/>
          <p:cNvSpPr/>
          <p:nvPr/>
        </p:nvSpPr>
        <p:spPr>
          <a:xfrm>
            <a:off x="6903720" y="1636776"/>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500"/>
              <a:buFont typeface="Calibri"/>
              <a:buNone/>
            </a:pPr>
            <a:r>
              <a:rPr b="1" i="0" lang="en-US" sz="1500" u="none" cap="none" strike="noStrike">
                <a:solidFill>
                  <a:srgbClr val="0B1F3A"/>
                </a:solidFill>
                <a:latin typeface="Calibri"/>
                <a:ea typeface="Calibri"/>
                <a:cs typeface="Calibri"/>
                <a:sym typeface="Calibri"/>
              </a:rPr>
              <a:t>Advantages</a:t>
            </a:r>
            <a:endParaRPr b="0" i="0" sz="1500" u="none" cap="none" strike="noStrike">
              <a:solidFill>
                <a:schemeClr val="dk1"/>
              </a:solidFill>
              <a:latin typeface="Calibri"/>
              <a:ea typeface="Calibri"/>
              <a:cs typeface="Calibri"/>
              <a:sym typeface="Calibri"/>
            </a:endParaRPr>
          </a:p>
        </p:txBody>
      </p:sp>
      <p:sp>
        <p:nvSpPr>
          <p:cNvPr id="436" name="Google Shape;436;p9"/>
          <p:cNvSpPr/>
          <p:nvPr/>
        </p:nvSpPr>
        <p:spPr>
          <a:xfrm>
            <a:off x="6428232" y="224028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9"/>
          <p:cNvSpPr/>
          <p:nvPr/>
        </p:nvSpPr>
        <p:spPr>
          <a:xfrm>
            <a:off x="6647688" y="214884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Contactless interaction</a:t>
            </a:r>
            <a:endParaRPr b="0" i="0" sz="1050" u="none" cap="none" strike="noStrike">
              <a:solidFill>
                <a:schemeClr val="dk1"/>
              </a:solidFill>
              <a:latin typeface="Calibri"/>
              <a:ea typeface="Calibri"/>
              <a:cs typeface="Calibri"/>
              <a:sym typeface="Calibri"/>
            </a:endParaRPr>
          </a:p>
        </p:txBody>
      </p:sp>
      <p:sp>
        <p:nvSpPr>
          <p:cNvPr id="438" name="Google Shape;438;p9"/>
          <p:cNvSpPr/>
          <p:nvPr/>
        </p:nvSpPr>
        <p:spPr>
          <a:xfrm>
            <a:off x="6428232" y="260604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9"/>
          <p:cNvSpPr/>
          <p:nvPr/>
        </p:nvSpPr>
        <p:spPr>
          <a:xfrm>
            <a:off x="6647688" y="251460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Real-time performance</a:t>
            </a:r>
            <a:endParaRPr b="0" i="0" sz="1050" u="none" cap="none" strike="noStrike">
              <a:solidFill>
                <a:schemeClr val="dk1"/>
              </a:solidFill>
              <a:latin typeface="Calibri"/>
              <a:ea typeface="Calibri"/>
              <a:cs typeface="Calibri"/>
              <a:sym typeface="Calibri"/>
            </a:endParaRPr>
          </a:p>
        </p:txBody>
      </p:sp>
      <p:sp>
        <p:nvSpPr>
          <p:cNvPr id="440" name="Google Shape;440;p9"/>
          <p:cNvSpPr/>
          <p:nvPr/>
        </p:nvSpPr>
        <p:spPr>
          <a:xfrm>
            <a:off x="6428232" y="297180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9"/>
          <p:cNvSpPr/>
          <p:nvPr/>
        </p:nvSpPr>
        <p:spPr>
          <a:xfrm>
            <a:off x="6647688" y="288036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Easy to use</a:t>
            </a:r>
            <a:endParaRPr b="0" i="0" sz="1050" u="none" cap="none" strike="noStrike">
              <a:solidFill>
                <a:schemeClr val="dk1"/>
              </a:solidFill>
              <a:latin typeface="Calibri"/>
              <a:ea typeface="Calibri"/>
              <a:cs typeface="Calibri"/>
              <a:sym typeface="Calibri"/>
            </a:endParaRPr>
          </a:p>
        </p:txBody>
      </p:sp>
      <p:sp>
        <p:nvSpPr>
          <p:cNvPr id="442" name="Google Shape;442;p9"/>
          <p:cNvSpPr/>
          <p:nvPr/>
        </p:nvSpPr>
        <p:spPr>
          <a:xfrm>
            <a:off x="9148572" y="224028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9"/>
          <p:cNvSpPr/>
          <p:nvPr/>
        </p:nvSpPr>
        <p:spPr>
          <a:xfrm>
            <a:off x="9368028" y="214884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Low-cost, webcam-based</a:t>
            </a:r>
            <a:endParaRPr b="0" i="0" sz="1050" u="none" cap="none" strike="noStrike">
              <a:solidFill>
                <a:schemeClr val="dk1"/>
              </a:solidFill>
              <a:latin typeface="Calibri"/>
              <a:ea typeface="Calibri"/>
              <a:cs typeface="Calibri"/>
              <a:sym typeface="Calibri"/>
            </a:endParaRPr>
          </a:p>
        </p:txBody>
      </p:sp>
      <p:sp>
        <p:nvSpPr>
          <p:cNvPr id="444" name="Google Shape;444;p9"/>
          <p:cNvSpPr/>
          <p:nvPr/>
        </p:nvSpPr>
        <p:spPr>
          <a:xfrm>
            <a:off x="9148572" y="260604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9"/>
          <p:cNvSpPr/>
          <p:nvPr/>
        </p:nvSpPr>
        <p:spPr>
          <a:xfrm>
            <a:off x="9368028" y="251460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Combines sign recognition + PC control</a:t>
            </a:r>
            <a:endParaRPr b="0" i="0" sz="1050" u="none" cap="none" strike="noStrike">
              <a:solidFill>
                <a:schemeClr val="dk1"/>
              </a:solidFill>
              <a:latin typeface="Calibri"/>
              <a:ea typeface="Calibri"/>
              <a:cs typeface="Calibri"/>
              <a:sym typeface="Calibri"/>
            </a:endParaRPr>
          </a:p>
        </p:txBody>
      </p:sp>
      <p:sp>
        <p:nvSpPr>
          <p:cNvPr id="446" name="Google Shape;446;p9"/>
          <p:cNvSpPr/>
          <p:nvPr/>
        </p:nvSpPr>
        <p:spPr>
          <a:xfrm>
            <a:off x="548640" y="3931920"/>
            <a:ext cx="5440680" cy="2331720"/>
          </a:xfrm>
          <a:prstGeom prst="roundRect">
            <a:avLst>
              <a:gd fmla="val 3529"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9"/>
          <p:cNvSpPr/>
          <p:nvPr/>
        </p:nvSpPr>
        <p:spPr>
          <a:xfrm>
            <a:off x="749808" y="4114800"/>
            <a:ext cx="420624" cy="420624"/>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warning_navy.png" id="448" name="Google Shape;448;p9"/>
          <p:cNvPicPr preferRelativeResize="0"/>
          <p:nvPr/>
        </p:nvPicPr>
        <p:blipFill rotWithShape="1">
          <a:blip r:embed="rId5">
            <a:alphaModFix/>
          </a:blip>
          <a:srcRect b="0" l="0" r="0" t="0"/>
          <a:stretch/>
        </p:blipFill>
        <p:spPr>
          <a:xfrm>
            <a:off x="841248" y="4206240"/>
            <a:ext cx="237744" cy="237744"/>
          </a:xfrm>
          <a:prstGeom prst="rect">
            <a:avLst/>
          </a:prstGeom>
          <a:noFill/>
          <a:ln>
            <a:noFill/>
          </a:ln>
        </p:spPr>
      </p:pic>
      <p:sp>
        <p:nvSpPr>
          <p:cNvPr id="449" name="Google Shape;449;p9"/>
          <p:cNvSpPr/>
          <p:nvPr/>
        </p:nvSpPr>
        <p:spPr>
          <a:xfrm>
            <a:off x="1280160" y="4151376"/>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500"/>
              <a:buFont typeface="Calibri"/>
              <a:buNone/>
            </a:pPr>
            <a:r>
              <a:rPr b="1" i="0" lang="en-US" sz="1500" u="none" cap="none" strike="noStrike">
                <a:solidFill>
                  <a:srgbClr val="0B1F3A"/>
                </a:solidFill>
                <a:latin typeface="Calibri"/>
                <a:ea typeface="Calibri"/>
                <a:cs typeface="Calibri"/>
                <a:sym typeface="Calibri"/>
              </a:rPr>
              <a:t>Limitations</a:t>
            </a:r>
            <a:endParaRPr b="0" i="0" sz="1500" u="none" cap="none" strike="noStrike">
              <a:solidFill>
                <a:schemeClr val="dk1"/>
              </a:solidFill>
              <a:latin typeface="Calibri"/>
              <a:ea typeface="Calibri"/>
              <a:cs typeface="Calibri"/>
              <a:sym typeface="Calibri"/>
            </a:endParaRPr>
          </a:p>
        </p:txBody>
      </p:sp>
      <p:sp>
        <p:nvSpPr>
          <p:cNvPr id="450" name="Google Shape;450;p9"/>
          <p:cNvSpPr/>
          <p:nvPr/>
        </p:nvSpPr>
        <p:spPr>
          <a:xfrm>
            <a:off x="804672" y="475488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9"/>
          <p:cNvSpPr/>
          <p:nvPr/>
        </p:nvSpPr>
        <p:spPr>
          <a:xfrm>
            <a:off x="1024128" y="4663440"/>
            <a:ext cx="47091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100"/>
              <a:buFont typeface="Calibri"/>
              <a:buNone/>
            </a:pPr>
            <a:r>
              <a:rPr b="0" i="0" lang="en-US" sz="1100" u="none" cap="none" strike="noStrike">
                <a:solidFill>
                  <a:srgbClr val="5B6B82"/>
                </a:solidFill>
                <a:latin typeface="Calibri"/>
                <a:ea typeface="Calibri"/>
                <a:cs typeface="Calibri"/>
                <a:sym typeface="Calibri"/>
              </a:rPr>
              <a:t>Depends on lighting/background</a:t>
            </a:r>
            <a:endParaRPr b="0" i="0" sz="1100" u="none" cap="none" strike="noStrike">
              <a:solidFill>
                <a:schemeClr val="dk1"/>
              </a:solidFill>
              <a:latin typeface="Calibri"/>
              <a:ea typeface="Calibri"/>
              <a:cs typeface="Calibri"/>
              <a:sym typeface="Calibri"/>
            </a:endParaRPr>
          </a:p>
        </p:txBody>
      </p:sp>
      <p:sp>
        <p:nvSpPr>
          <p:cNvPr id="452" name="Google Shape;452;p9"/>
          <p:cNvSpPr/>
          <p:nvPr/>
        </p:nvSpPr>
        <p:spPr>
          <a:xfrm>
            <a:off x="804672" y="507492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9"/>
          <p:cNvSpPr/>
          <p:nvPr/>
        </p:nvSpPr>
        <p:spPr>
          <a:xfrm>
            <a:off x="1024128" y="4983480"/>
            <a:ext cx="47091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100"/>
              <a:buFont typeface="Calibri"/>
              <a:buNone/>
            </a:pPr>
            <a:r>
              <a:rPr b="0" i="0" lang="en-US" sz="1100" u="none" cap="none" strike="noStrike">
                <a:solidFill>
                  <a:srgbClr val="5B6B82"/>
                </a:solidFill>
                <a:latin typeface="Calibri"/>
                <a:ea typeface="Calibri"/>
                <a:cs typeface="Calibri"/>
                <a:sym typeface="Calibri"/>
              </a:rPr>
              <a:t>Accuracy depends on training data</a:t>
            </a:r>
            <a:endParaRPr b="0" i="0" sz="1100" u="none" cap="none" strike="noStrike">
              <a:solidFill>
                <a:schemeClr val="dk1"/>
              </a:solidFill>
              <a:latin typeface="Calibri"/>
              <a:ea typeface="Calibri"/>
              <a:cs typeface="Calibri"/>
              <a:sym typeface="Calibri"/>
            </a:endParaRPr>
          </a:p>
        </p:txBody>
      </p:sp>
      <p:sp>
        <p:nvSpPr>
          <p:cNvPr id="454" name="Google Shape;454;p9"/>
          <p:cNvSpPr/>
          <p:nvPr/>
        </p:nvSpPr>
        <p:spPr>
          <a:xfrm>
            <a:off x="804672" y="539496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9"/>
          <p:cNvSpPr/>
          <p:nvPr/>
        </p:nvSpPr>
        <p:spPr>
          <a:xfrm>
            <a:off x="1024128" y="5303520"/>
            <a:ext cx="47091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100"/>
              <a:buFont typeface="Calibri"/>
              <a:buNone/>
            </a:pPr>
            <a:r>
              <a:rPr b="0" i="0" lang="en-US" sz="1100" u="none" cap="none" strike="noStrike">
                <a:solidFill>
                  <a:srgbClr val="5B6B82"/>
                </a:solidFill>
                <a:latin typeface="Calibri"/>
                <a:ea typeface="Calibri"/>
                <a:cs typeface="Calibri"/>
                <a:sym typeface="Calibri"/>
              </a:rPr>
              <a:t>Focused on trained gestures/signs</a:t>
            </a:r>
            <a:endParaRPr b="0" i="0" sz="1100" u="none" cap="none" strike="noStrike">
              <a:solidFill>
                <a:schemeClr val="dk1"/>
              </a:solidFill>
              <a:latin typeface="Calibri"/>
              <a:ea typeface="Calibri"/>
              <a:cs typeface="Calibri"/>
              <a:sym typeface="Calibri"/>
            </a:endParaRPr>
          </a:p>
        </p:txBody>
      </p:sp>
      <p:sp>
        <p:nvSpPr>
          <p:cNvPr id="456" name="Google Shape;456;p9"/>
          <p:cNvSpPr/>
          <p:nvPr/>
        </p:nvSpPr>
        <p:spPr>
          <a:xfrm>
            <a:off x="804672" y="571500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9"/>
          <p:cNvSpPr/>
          <p:nvPr/>
        </p:nvSpPr>
        <p:spPr>
          <a:xfrm>
            <a:off x="1024128" y="5623560"/>
            <a:ext cx="47091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100"/>
              <a:buFont typeface="Calibri"/>
              <a:buNone/>
            </a:pPr>
            <a:r>
              <a:rPr b="0" i="0" lang="en-US" sz="1100" u="none" cap="none" strike="noStrike">
                <a:solidFill>
                  <a:srgbClr val="5B6B82"/>
                </a:solidFill>
                <a:latin typeface="Calibri"/>
                <a:ea typeface="Calibri"/>
                <a:cs typeface="Calibri"/>
                <a:sym typeface="Calibri"/>
              </a:rPr>
              <a:t>Single-hand operation where applicable</a:t>
            </a:r>
            <a:endParaRPr b="0" i="0" sz="1100" u="none" cap="none" strike="noStrike">
              <a:solidFill>
                <a:schemeClr val="dk1"/>
              </a:solidFill>
              <a:latin typeface="Calibri"/>
              <a:ea typeface="Calibri"/>
              <a:cs typeface="Calibri"/>
              <a:sym typeface="Calibri"/>
            </a:endParaRPr>
          </a:p>
        </p:txBody>
      </p:sp>
      <p:sp>
        <p:nvSpPr>
          <p:cNvPr id="458" name="Google Shape;458;p9"/>
          <p:cNvSpPr/>
          <p:nvPr/>
        </p:nvSpPr>
        <p:spPr>
          <a:xfrm>
            <a:off x="6172200" y="3931920"/>
            <a:ext cx="5440680" cy="2331720"/>
          </a:xfrm>
          <a:prstGeom prst="roundRect">
            <a:avLst>
              <a:gd fmla="val 3529" name="adj"/>
            </a:avLst>
          </a:prstGeom>
          <a:solidFill>
            <a:srgbClr val="FFFFFF"/>
          </a:solidFill>
          <a:ln cap="flat" cmpd="sng" w="12700">
            <a:solidFill>
              <a:srgbClr val="E1E8F0"/>
            </a:solidFill>
            <a:prstDash val="solid"/>
            <a:round/>
            <a:headEnd len="sm" w="sm" type="none"/>
            <a:tailEnd len="sm" w="sm" type="none"/>
          </a:ln>
          <a:effectLst>
            <a:outerShdw blurRad="63500" rotWithShape="0" algn="bl" dir="5400000" dist="25400">
              <a:srgbClr val="9AA9BE">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9"/>
          <p:cNvSpPr/>
          <p:nvPr/>
        </p:nvSpPr>
        <p:spPr>
          <a:xfrm>
            <a:off x="6373368" y="4114800"/>
            <a:ext cx="420624" cy="420624"/>
          </a:xfrm>
          <a:prstGeom prst="ellipse">
            <a:avLst/>
          </a:prstGeom>
          <a:solidFill>
            <a:srgbClr val="EAF3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rocket_navy.png" id="460" name="Google Shape;460;p9"/>
          <p:cNvPicPr preferRelativeResize="0"/>
          <p:nvPr/>
        </p:nvPicPr>
        <p:blipFill rotWithShape="1">
          <a:blip r:embed="rId6">
            <a:alphaModFix/>
          </a:blip>
          <a:srcRect b="0" l="0" r="0" t="0"/>
          <a:stretch/>
        </p:blipFill>
        <p:spPr>
          <a:xfrm>
            <a:off x="6464808" y="4206240"/>
            <a:ext cx="237744" cy="237744"/>
          </a:xfrm>
          <a:prstGeom prst="rect">
            <a:avLst/>
          </a:prstGeom>
          <a:noFill/>
          <a:ln>
            <a:noFill/>
          </a:ln>
        </p:spPr>
      </p:pic>
      <p:sp>
        <p:nvSpPr>
          <p:cNvPr id="461" name="Google Shape;461;p9"/>
          <p:cNvSpPr/>
          <p:nvPr/>
        </p:nvSpPr>
        <p:spPr>
          <a:xfrm>
            <a:off x="6903720" y="4151376"/>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A"/>
              </a:buClr>
              <a:buSzPts val="1500"/>
              <a:buFont typeface="Calibri"/>
              <a:buNone/>
            </a:pPr>
            <a:r>
              <a:rPr b="1" i="0" lang="en-US" sz="1500" u="none" cap="none" strike="noStrike">
                <a:solidFill>
                  <a:srgbClr val="0B1F3A"/>
                </a:solidFill>
                <a:latin typeface="Calibri"/>
                <a:ea typeface="Calibri"/>
                <a:cs typeface="Calibri"/>
                <a:sym typeface="Calibri"/>
              </a:rPr>
              <a:t>Future Scope</a:t>
            </a:r>
            <a:endParaRPr b="0" i="0" sz="1500" u="none" cap="none" strike="noStrike">
              <a:solidFill>
                <a:schemeClr val="dk1"/>
              </a:solidFill>
              <a:latin typeface="Calibri"/>
              <a:ea typeface="Calibri"/>
              <a:cs typeface="Calibri"/>
              <a:sym typeface="Calibri"/>
            </a:endParaRPr>
          </a:p>
        </p:txBody>
      </p:sp>
      <p:sp>
        <p:nvSpPr>
          <p:cNvPr id="462" name="Google Shape;462;p9"/>
          <p:cNvSpPr/>
          <p:nvPr/>
        </p:nvSpPr>
        <p:spPr>
          <a:xfrm>
            <a:off x="6428232" y="475488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9"/>
          <p:cNvSpPr/>
          <p:nvPr/>
        </p:nvSpPr>
        <p:spPr>
          <a:xfrm>
            <a:off x="6647688" y="466344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More sign languages</a:t>
            </a:r>
            <a:endParaRPr b="0" i="0" sz="1050" u="none" cap="none" strike="noStrike">
              <a:solidFill>
                <a:schemeClr val="dk1"/>
              </a:solidFill>
              <a:latin typeface="Calibri"/>
              <a:ea typeface="Calibri"/>
              <a:cs typeface="Calibri"/>
              <a:sym typeface="Calibri"/>
            </a:endParaRPr>
          </a:p>
        </p:txBody>
      </p:sp>
      <p:sp>
        <p:nvSpPr>
          <p:cNvPr id="464" name="Google Shape;464;p9"/>
          <p:cNvSpPr/>
          <p:nvPr/>
        </p:nvSpPr>
        <p:spPr>
          <a:xfrm>
            <a:off x="6428232" y="512064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9"/>
          <p:cNvSpPr/>
          <p:nvPr/>
        </p:nvSpPr>
        <p:spPr>
          <a:xfrm>
            <a:off x="6647688" y="502920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More gestures</a:t>
            </a:r>
            <a:endParaRPr b="0" i="0" sz="1050" u="none" cap="none" strike="noStrike">
              <a:solidFill>
                <a:schemeClr val="dk1"/>
              </a:solidFill>
              <a:latin typeface="Calibri"/>
              <a:ea typeface="Calibri"/>
              <a:cs typeface="Calibri"/>
              <a:sym typeface="Calibri"/>
            </a:endParaRPr>
          </a:p>
        </p:txBody>
      </p:sp>
      <p:sp>
        <p:nvSpPr>
          <p:cNvPr id="466" name="Google Shape;466;p9"/>
          <p:cNvSpPr/>
          <p:nvPr/>
        </p:nvSpPr>
        <p:spPr>
          <a:xfrm>
            <a:off x="6428232" y="548640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9"/>
          <p:cNvSpPr/>
          <p:nvPr/>
        </p:nvSpPr>
        <p:spPr>
          <a:xfrm>
            <a:off x="6647688" y="539496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Two-hand recognition</a:t>
            </a:r>
            <a:endParaRPr b="0" i="0" sz="1050" u="none" cap="none" strike="noStrike">
              <a:solidFill>
                <a:schemeClr val="dk1"/>
              </a:solidFill>
              <a:latin typeface="Calibri"/>
              <a:ea typeface="Calibri"/>
              <a:cs typeface="Calibri"/>
              <a:sym typeface="Calibri"/>
            </a:endParaRPr>
          </a:p>
        </p:txBody>
      </p:sp>
      <p:sp>
        <p:nvSpPr>
          <p:cNvPr id="468" name="Google Shape;468;p9"/>
          <p:cNvSpPr/>
          <p:nvPr/>
        </p:nvSpPr>
        <p:spPr>
          <a:xfrm>
            <a:off x="9148572" y="475488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9"/>
          <p:cNvSpPr/>
          <p:nvPr/>
        </p:nvSpPr>
        <p:spPr>
          <a:xfrm>
            <a:off x="9368028" y="466344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Better datasets</a:t>
            </a:r>
            <a:endParaRPr b="0" i="0" sz="1050" u="none" cap="none" strike="noStrike">
              <a:solidFill>
                <a:schemeClr val="dk1"/>
              </a:solidFill>
              <a:latin typeface="Calibri"/>
              <a:ea typeface="Calibri"/>
              <a:cs typeface="Calibri"/>
              <a:sym typeface="Calibri"/>
            </a:endParaRPr>
          </a:p>
        </p:txBody>
      </p:sp>
      <p:sp>
        <p:nvSpPr>
          <p:cNvPr id="470" name="Google Shape;470;p9"/>
          <p:cNvSpPr/>
          <p:nvPr/>
        </p:nvSpPr>
        <p:spPr>
          <a:xfrm>
            <a:off x="9148572" y="512064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9"/>
          <p:cNvSpPr/>
          <p:nvPr/>
        </p:nvSpPr>
        <p:spPr>
          <a:xfrm>
            <a:off x="9368028" y="502920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Deep-learning models</a:t>
            </a:r>
            <a:endParaRPr b="0" i="0" sz="1050" u="none" cap="none" strike="noStrike">
              <a:solidFill>
                <a:schemeClr val="dk1"/>
              </a:solidFill>
              <a:latin typeface="Calibri"/>
              <a:ea typeface="Calibri"/>
              <a:cs typeface="Calibri"/>
              <a:sym typeface="Calibri"/>
            </a:endParaRPr>
          </a:p>
        </p:txBody>
      </p:sp>
      <p:sp>
        <p:nvSpPr>
          <p:cNvPr id="472" name="Google Shape;472;p9"/>
          <p:cNvSpPr/>
          <p:nvPr/>
        </p:nvSpPr>
        <p:spPr>
          <a:xfrm>
            <a:off x="9148572" y="5486400"/>
            <a:ext cx="109728" cy="109728"/>
          </a:xfrm>
          <a:prstGeom prst="ellipse">
            <a:avLst/>
          </a:prstGeom>
          <a:solidFill>
            <a:srgbClr val="00C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a:off x="9368028" y="5394960"/>
            <a:ext cx="21717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Voice/text integration</a:t>
            </a:r>
            <a:endParaRPr b="0" i="0" sz="1050" u="none" cap="none" strike="noStrike">
              <a:solidFill>
                <a:schemeClr val="dk1"/>
              </a:solidFill>
              <a:latin typeface="Calibri"/>
              <a:ea typeface="Calibri"/>
              <a:cs typeface="Calibri"/>
              <a:sym typeface="Calibri"/>
            </a:endParaRPr>
          </a:p>
        </p:txBody>
      </p:sp>
      <p:sp>
        <p:nvSpPr>
          <p:cNvPr id="474" name="Google Shape;474;p9"/>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RESULTS, ADVANTAGES, LIMITATIONS &amp; FUTURE SCOPE</a:t>
            </a:r>
            <a:endParaRPr b="0" i="0" sz="900" u="none" cap="none" strike="noStrike">
              <a:solidFill>
                <a:schemeClr val="dk1"/>
              </a:solidFill>
              <a:latin typeface="Calibri"/>
              <a:ea typeface="Calibri"/>
              <a:cs typeface="Calibri"/>
              <a:sym typeface="Calibri"/>
            </a:endParaRPr>
          </a:p>
        </p:txBody>
      </p:sp>
      <p:sp>
        <p:nvSpPr>
          <p:cNvPr id="475" name="Google Shape;475;p9"/>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9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480" name="Shape 480"/>
        <p:cNvGrpSpPr/>
        <p:nvPr/>
      </p:nvGrpSpPr>
      <p:grpSpPr>
        <a:xfrm>
          <a:off x="0" y="0"/>
          <a:ext cx="0" cy="0"/>
          <a:chOff x="0" y="0"/>
          <a:chExt cx="0" cy="0"/>
        </a:xfrm>
      </p:grpSpPr>
      <p:sp>
        <p:nvSpPr>
          <p:cNvPr id="481" name="Google Shape;481;p10"/>
          <p:cNvSpPr/>
          <p:nvPr/>
        </p:nvSpPr>
        <p:spPr>
          <a:xfrm>
            <a:off x="-2286000" y="-2286000"/>
            <a:ext cx="5486400" cy="54864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0"/>
          <p:cNvSpPr/>
          <p:nvPr/>
        </p:nvSpPr>
        <p:spPr>
          <a:xfrm>
            <a:off x="9601200" y="3840480"/>
            <a:ext cx="5029200" cy="50292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0"/>
          <p:cNvSpPr/>
          <p:nvPr/>
        </p:nvSpPr>
        <p:spPr>
          <a:xfrm>
            <a:off x="685800" y="59436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1300"/>
              <a:buFont typeface="Calibri"/>
              <a:buNone/>
            </a:pPr>
            <a:r>
              <a:rPr b="1" i="0" lang="en-US" sz="1300" u="none" cap="none" strike="noStrike">
                <a:solidFill>
                  <a:srgbClr val="00E5FF"/>
                </a:solidFill>
                <a:latin typeface="Calibri"/>
                <a:ea typeface="Calibri"/>
                <a:cs typeface="Calibri"/>
                <a:sym typeface="Calibri"/>
              </a:rPr>
              <a:t>CONCLUSION</a:t>
            </a:r>
            <a:endParaRPr b="0" i="0" sz="1300" u="none" cap="none" strike="noStrike">
              <a:solidFill>
                <a:schemeClr val="dk1"/>
              </a:solidFill>
              <a:latin typeface="Calibri"/>
              <a:ea typeface="Calibri"/>
              <a:cs typeface="Calibri"/>
              <a:sym typeface="Calibri"/>
            </a:endParaRPr>
          </a:p>
        </p:txBody>
      </p:sp>
      <p:sp>
        <p:nvSpPr>
          <p:cNvPr id="484" name="Google Shape;484;p10"/>
          <p:cNvSpPr/>
          <p:nvPr/>
        </p:nvSpPr>
        <p:spPr>
          <a:xfrm>
            <a:off x="685800" y="960120"/>
            <a:ext cx="106070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GestureX brings together Computer Vision and Machine Learning to make interaction more natural.</a:t>
            </a:r>
            <a:endParaRPr b="0" i="0" sz="2200" u="none" cap="none" strike="noStrike">
              <a:solidFill>
                <a:schemeClr val="dk1"/>
              </a:solidFill>
              <a:latin typeface="Calibri"/>
              <a:ea typeface="Calibri"/>
              <a:cs typeface="Calibri"/>
              <a:sym typeface="Calibri"/>
            </a:endParaRPr>
          </a:p>
        </p:txBody>
      </p:sp>
      <p:sp>
        <p:nvSpPr>
          <p:cNvPr id="485" name="Google Shape;485;p10"/>
          <p:cNvSpPr/>
          <p:nvPr/>
        </p:nvSpPr>
        <p:spPr>
          <a:xfrm>
            <a:off x="685800" y="2148840"/>
            <a:ext cx="685800" cy="6858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eye_cyan.png" id="486" name="Google Shape;486;p10"/>
          <p:cNvPicPr preferRelativeResize="0"/>
          <p:nvPr/>
        </p:nvPicPr>
        <p:blipFill rotWithShape="1">
          <a:blip r:embed="rId3">
            <a:alphaModFix/>
          </a:blip>
          <a:srcRect b="0" l="0" r="0" t="0"/>
          <a:stretch/>
        </p:blipFill>
        <p:spPr>
          <a:xfrm>
            <a:off x="841248" y="2304288"/>
            <a:ext cx="374904" cy="374904"/>
          </a:xfrm>
          <a:prstGeom prst="rect">
            <a:avLst/>
          </a:prstGeom>
          <a:noFill/>
          <a:ln>
            <a:noFill/>
          </a:ln>
        </p:spPr>
      </p:pic>
      <p:sp>
        <p:nvSpPr>
          <p:cNvPr id="487" name="Google Shape;487;p10"/>
          <p:cNvSpPr/>
          <p:nvPr/>
        </p:nvSpPr>
        <p:spPr>
          <a:xfrm>
            <a:off x="457200" y="2944368"/>
            <a:ext cx="2514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Computer Vision</a:t>
            </a:r>
            <a:endParaRPr b="0" i="0" sz="1250" u="none" cap="none" strike="noStrike">
              <a:solidFill>
                <a:schemeClr val="dk1"/>
              </a:solidFill>
              <a:latin typeface="Calibri"/>
              <a:ea typeface="Calibri"/>
              <a:cs typeface="Calibri"/>
              <a:sym typeface="Calibri"/>
            </a:endParaRPr>
          </a:p>
        </p:txBody>
      </p:sp>
      <p:sp>
        <p:nvSpPr>
          <p:cNvPr id="488" name="Google Shape;488;p10"/>
          <p:cNvSpPr/>
          <p:nvPr/>
        </p:nvSpPr>
        <p:spPr>
          <a:xfrm>
            <a:off x="365760" y="3246120"/>
            <a:ext cx="26974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FC6DE"/>
              </a:buClr>
              <a:buSzPts val="950"/>
              <a:buFont typeface="Calibri"/>
              <a:buNone/>
            </a:pPr>
            <a:r>
              <a:rPr b="0" i="0" lang="en-US" sz="950" u="none" cap="none" strike="noStrike">
                <a:solidFill>
                  <a:srgbClr val="AFC6DE"/>
                </a:solidFill>
                <a:latin typeface="Calibri"/>
                <a:ea typeface="Calibri"/>
                <a:cs typeface="Calibri"/>
                <a:sym typeface="Calibri"/>
              </a:rPr>
              <a:t>MediaPipe extracts precise hand landmarks in real time</a:t>
            </a:r>
            <a:endParaRPr b="0" i="0" sz="950" u="none" cap="none" strike="noStrike">
              <a:solidFill>
                <a:schemeClr val="dk1"/>
              </a:solidFill>
              <a:latin typeface="Calibri"/>
              <a:ea typeface="Calibri"/>
              <a:cs typeface="Calibri"/>
              <a:sym typeface="Calibri"/>
            </a:endParaRPr>
          </a:p>
        </p:txBody>
      </p:sp>
      <p:sp>
        <p:nvSpPr>
          <p:cNvPr id="489" name="Google Shape;489;p10"/>
          <p:cNvSpPr/>
          <p:nvPr/>
        </p:nvSpPr>
        <p:spPr>
          <a:xfrm>
            <a:off x="3401568" y="2148840"/>
            <a:ext cx="685800" cy="6858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tree_cyan.png" id="490" name="Google Shape;490;p10"/>
          <p:cNvPicPr preferRelativeResize="0"/>
          <p:nvPr/>
        </p:nvPicPr>
        <p:blipFill rotWithShape="1">
          <a:blip r:embed="rId4">
            <a:alphaModFix/>
          </a:blip>
          <a:srcRect b="0" l="0" r="0" t="0"/>
          <a:stretch/>
        </p:blipFill>
        <p:spPr>
          <a:xfrm>
            <a:off x="3557016" y="2304288"/>
            <a:ext cx="374904" cy="374904"/>
          </a:xfrm>
          <a:prstGeom prst="rect">
            <a:avLst/>
          </a:prstGeom>
          <a:noFill/>
          <a:ln>
            <a:noFill/>
          </a:ln>
        </p:spPr>
      </p:pic>
      <p:sp>
        <p:nvSpPr>
          <p:cNvPr id="491" name="Google Shape;491;p10"/>
          <p:cNvSpPr/>
          <p:nvPr/>
        </p:nvSpPr>
        <p:spPr>
          <a:xfrm>
            <a:off x="3172968" y="2944368"/>
            <a:ext cx="2514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Machine Learning</a:t>
            </a:r>
            <a:endParaRPr b="0" i="0" sz="1250" u="none" cap="none" strike="noStrike">
              <a:solidFill>
                <a:schemeClr val="dk1"/>
              </a:solidFill>
              <a:latin typeface="Calibri"/>
              <a:ea typeface="Calibri"/>
              <a:cs typeface="Calibri"/>
              <a:sym typeface="Calibri"/>
            </a:endParaRPr>
          </a:p>
        </p:txBody>
      </p:sp>
      <p:sp>
        <p:nvSpPr>
          <p:cNvPr id="492" name="Google Shape;492;p10"/>
          <p:cNvSpPr/>
          <p:nvPr/>
        </p:nvSpPr>
        <p:spPr>
          <a:xfrm>
            <a:off x="3081528" y="3246120"/>
            <a:ext cx="26974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FC6DE"/>
              </a:buClr>
              <a:buSzPts val="950"/>
              <a:buFont typeface="Calibri"/>
              <a:buNone/>
            </a:pPr>
            <a:r>
              <a:rPr b="0" i="0" lang="en-US" sz="950" u="none" cap="none" strike="noStrike">
                <a:solidFill>
                  <a:srgbClr val="AFC6DE"/>
                </a:solidFill>
                <a:latin typeface="Calibri"/>
                <a:ea typeface="Calibri"/>
                <a:cs typeface="Calibri"/>
                <a:sym typeface="Calibri"/>
              </a:rPr>
              <a:t>Random Forest classifies signs and gestures accurately</a:t>
            </a:r>
            <a:endParaRPr b="0" i="0" sz="950" u="none" cap="none" strike="noStrike">
              <a:solidFill>
                <a:schemeClr val="dk1"/>
              </a:solidFill>
              <a:latin typeface="Calibri"/>
              <a:ea typeface="Calibri"/>
              <a:cs typeface="Calibri"/>
              <a:sym typeface="Calibri"/>
            </a:endParaRPr>
          </a:p>
        </p:txBody>
      </p:sp>
      <p:sp>
        <p:nvSpPr>
          <p:cNvPr id="493" name="Google Shape;493;p10"/>
          <p:cNvSpPr/>
          <p:nvPr/>
        </p:nvSpPr>
        <p:spPr>
          <a:xfrm>
            <a:off x="6117336" y="2148840"/>
            <a:ext cx="685800" cy="6858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hand_cyan.png" id="494" name="Google Shape;494;p10"/>
          <p:cNvPicPr preferRelativeResize="0"/>
          <p:nvPr/>
        </p:nvPicPr>
        <p:blipFill rotWithShape="1">
          <a:blip r:embed="rId5">
            <a:alphaModFix/>
          </a:blip>
          <a:srcRect b="0" l="0" r="0" t="0"/>
          <a:stretch/>
        </p:blipFill>
        <p:spPr>
          <a:xfrm>
            <a:off x="6272784" y="2304288"/>
            <a:ext cx="374904" cy="374904"/>
          </a:xfrm>
          <a:prstGeom prst="rect">
            <a:avLst/>
          </a:prstGeom>
          <a:noFill/>
          <a:ln>
            <a:noFill/>
          </a:ln>
        </p:spPr>
      </p:pic>
      <p:sp>
        <p:nvSpPr>
          <p:cNvPr id="495" name="Google Shape;495;p10"/>
          <p:cNvSpPr/>
          <p:nvPr/>
        </p:nvSpPr>
        <p:spPr>
          <a:xfrm>
            <a:off x="5888736" y="2944368"/>
            <a:ext cx="2514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Sign Recognition</a:t>
            </a:r>
            <a:endParaRPr b="0" i="0" sz="1250" u="none" cap="none" strike="noStrike">
              <a:solidFill>
                <a:schemeClr val="dk1"/>
              </a:solidFill>
              <a:latin typeface="Calibri"/>
              <a:ea typeface="Calibri"/>
              <a:cs typeface="Calibri"/>
              <a:sym typeface="Calibri"/>
            </a:endParaRPr>
          </a:p>
        </p:txBody>
      </p:sp>
      <p:sp>
        <p:nvSpPr>
          <p:cNvPr id="496" name="Google Shape;496;p10"/>
          <p:cNvSpPr/>
          <p:nvPr/>
        </p:nvSpPr>
        <p:spPr>
          <a:xfrm>
            <a:off x="5797296" y="3246120"/>
            <a:ext cx="26974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FC6DE"/>
              </a:buClr>
              <a:buSzPts val="950"/>
              <a:buFont typeface="Calibri"/>
              <a:buNone/>
            </a:pPr>
            <a:r>
              <a:rPr b="0" i="0" lang="en-US" sz="950" u="none" cap="none" strike="noStrike">
                <a:solidFill>
                  <a:srgbClr val="AFC6DE"/>
                </a:solidFill>
                <a:latin typeface="Calibri"/>
                <a:ea typeface="Calibri"/>
                <a:cs typeface="Calibri"/>
                <a:sym typeface="Calibri"/>
              </a:rPr>
              <a:t>Recognizes hand-formed signs and alphabets live</a:t>
            </a:r>
            <a:endParaRPr b="0" i="0" sz="950" u="none" cap="none" strike="noStrike">
              <a:solidFill>
                <a:schemeClr val="dk1"/>
              </a:solidFill>
              <a:latin typeface="Calibri"/>
              <a:ea typeface="Calibri"/>
              <a:cs typeface="Calibri"/>
              <a:sym typeface="Calibri"/>
            </a:endParaRPr>
          </a:p>
        </p:txBody>
      </p:sp>
      <p:sp>
        <p:nvSpPr>
          <p:cNvPr id="497" name="Google Shape;497;p10"/>
          <p:cNvSpPr/>
          <p:nvPr/>
        </p:nvSpPr>
        <p:spPr>
          <a:xfrm>
            <a:off x="8833104" y="2148840"/>
            <a:ext cx="685800" cy="6858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windows_cyan.png" id="498" name="Google Shape;498;p10"/>
          <p:cNvPicPr preferRelativeResize="0"/>
          <p:nvPr/>
        </p:nvPicPr>
        <p:blipFill rotWithShape="1">
          <a:blip r:embed="rId6">
            <a:alphaModFix/>
          </a:blip>
          <a:srcRect b="0" l="0" r="0" t="0"/>
          <a:stretch/>
        </p:blipFill>
        <p:spPr>
          <a:xfrm>
            <a:off x="8988552" y="2304288"/>
            <a:ext cx="374904" cy="374904"/>
          </a:xfrm>
          <a:prstGeom prst="rect">
            <a:avLst/>
          </a:prstGeom>
          <a:noFill/>
          <a:ln>
            <a:noFill/>
          </a:ln>
        </p:spPr>
      </p:pic>
      <p:sp>
        <p:nvSpPr>
          <p:cNvPr id="499" name="Google Shape;499;p10"/>
          <p:cNvSpPr/>
          <p:nvPr/>
        </p:nvSpPr>
        <p:spPr>
          <a:xfrm>
            <a:off x="8604504" y="2944368"/>
            <a:ext cx="2514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Gesture-Based Control</a:t>
            </a:r>
            <a:endParaRPr b="0" i="0" sz="1250" u="none" cap="none" strike="noStrike">
              <a:solidFill>
                <a:schemeClr val="dk1"/>
              </a:solidFill>
              <a:latin typeface="Calibri"/>
              <a:ea typeface="Calibri"/>
              <a:cs typeface="Calibri"/>
              <a:sym typeface="Calibri"/>
            </a:endParaRPr>
          </a:p>
        </p:txBody>
      </p:sp>
      <p:sp>
        <p:nvSpPr>
          <p:cNvPr id="500" name="Google Shape;500;p10"/>
          <p:cNvSpPr/>
          <p:nvPr/>
        </p:nvSpPr>
        <p:spPr>
          <a:xfrm>
            <a:off x="8513064" y="3246120"/>
            <a:ext cx="269748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FC6DE"/>
              </a:buClr>
              <a:buSzPts val="950"/>
              <a:buFont typeface="Calibri"/>
              <a:buNone/>
            </a:pPr>
            <a:r>
              <a:rPr b="0" i="0" lang="en-US" sz="950" u="none" cap="none" strike="noStrike">
                <a:solidFill>
                  <a:srgbClr val="AFC6DE"/>
                </a:solidFill>
                <a:latin typeface="Calibri"/>
                <a:ea typeface="Calibri"/>
                <a:cs typeface="Calibri"/>
                <a:sym typeface="Calibri"/>
              </a:rPr>
              <a:t>Turns hand gestures into real Windows actions</a:t>
            </a:r>
            <a:endParaRPr b="0" i="0" sz="950" u="none" cap="none" strike="noStrike">
              <a:solidFill>
                <a:schemeClr val="dk1"/>
              </a:solidFill>
              <a:latin typeface="Calibri"/>
              <a:ea typeface="Calibri"/>
              <a:cs typeface="Calibri"/>
              <a:sym typeface="Calibri"/>
            </a:endParaRPr>
          </a:p>
        </p:txBody>
      </p:sp>
      <p:sp>
        <p:nvSpPr>
          <p:cNvPr id="501" name="Google Shape;501;p10"/>
          <p:cNvSpPr/>
          <p:nvPr/>
        </p:nvSpPr>
        <p:spPr>
          <a:xfrm>
            <a:off x="777240" y="4114800"/>
            <a:ext cx="1042416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FE3F5"/>
              </a:buClr>
              <a:buSzPts val="1300"/>
              <a:buFont typeface="Calibri"/>
              <a:buNone/>
            </a:pPr>
            <a:r>
              <a:rPr b="0" i="1" lang="en-US" sz="1300" u="none" cap="none" strike="noStrike">
                <a:solidFill>
                  <a:srgbClr val="CFE3F5"/>
                </a:solidFill>
                <a:latin typeface="Calibri"/>
                <a:ea typeface="Calibri"/>
                <a:cs typeface="Calibri"/>
                <a:sym typeface="Calibri"/>
              </a:rPr>
              <a:t>Together, these enable smooth real-time interaction — bridging communication gaps and enabling hands-free computer control through a single webcam-based system.</a:t>
            </a:r>
            <a:endParaRPr b="0" i="0" sz="1300" u="none" cap="none" strike="noStrike">
              <a:solidFill>
                <a:schemeClr val="dk1"/>
              </a:solidFill>
              <a:latin typeface="Calibri"/>
              <a:ea typeface="Calibri"/>
              <a:cs typeface="Calibri"/>
              <a:sym typeface="Calibri"/>
            </a:endParaRPr>
          </a:p>
        </p:txBody>
      </p:sp>
      <p:sp>
        <p:nvSpPr>
          <p:cNvPr id="502" name="Google Shape;502;p10"/>
          <p:cNvSpPr/>
          <p:nvPr/>
        </p:nvSpPr>
        <p:spPr>
          <a:xfrm>
            <a:off x="4846320" y="5029200"/>
            <a:ext cx="2496312" cy="18288"/>
          </a:xfrm>
          <a:prstGeom prst="rect">
            <a:avLst/>
          </a:prstGeom>
          <a:solidFill>
            <a:srgbClr val="244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0"/>
          <p:cNvSpPr/>
          <p:nvPr/>
        </p:nvSpPr>
        <p:spPr>
          <a:xfrm>
            <a:off x="685800" y="5257800"/>
            <a:ext cx="1078992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Thank You</a:t>
            </a:r>
            <a:endParaRPr b="0" i="0" sz="4400" u="none" cap="none" strike="noStrike">
              <a:solidFill>
                <a:schemeClr val="dk1"/>
              </a:solidFill>
              <a:latin typeface="Calibri"/>
              <a:ea typeface="Calibri"/>
              <a:cs typeface="Calibri"/>
              <a:sym typeface="Calibri"/>
            </a:endParaRPr>
          </a:p>
        </p:txBody>
      </p:sp>
      <p:sp>
        <p:nvSpPr>
          <p:cNvPr id="504" name="Google Shape;504;p10"/>
          <p:cNvSpPr/>
          <p:nvPr/>
        </p:nvSpPr>
        <p:spPr>
          <a:xfrm>
            <a:off x="5074920" y="6144768"/>
            <a:ext cx="457200" cy="457200"/>
          </a:xfrm>
          <a:prstGeom prst="ellipse">
            <a:avLst/>
          </a:prstGeom>
          <a:solidFill>
            <a:srgbClr val="1234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gesturex/icons/question_cyan.png" id="505" name="Google Shape;505;p10"/>
          <p:cNvPicPr preferRelativeResize="0"/>
          <p:nvPr/>
        </p:nvPicPr>
        <p:blipFill rotWithShape="1">
          <a:blip r:embed="rId7">
            <a:alphaModFix/>
          </a:blip>
          <a:srcRect b="0" l="0" r="0" t="0"/>
          <a:stretch/>
        </p:blipFill>
        <p:spPr>
          <a:xfrm>
            <a:off x="5175504" y="6245352"/>
            <a:ext cx="256032" cy="256032"/>
          </a:xfrm>
          <a:prstGeom prst="rect">
            <a:avLst/>
          </a:prstGeom>
          <a:noFill/>
          <a:ln>
            <a:noFill/>
          </a:ln>
        </p:spPr>
      </p:pic>
      <p:sp>
        <p:nvSpPr>
          <p:cNvPr id="506" name="Google Shape;506;p10"/>
          <p:cNvSpPr/>
          <p:nvPr/>
        </p:nvSpPr>
        <p:spPr>
          <a:xfrm>
            <a:off x="5623560" y="6144768"/>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E5FF"/>
              </a:buClr>
              <a:buSzPts val="1600"/>
              <a:buFont typeface="Calibri"/>
              <a:buNone/>
            </a:pPr>
            <a:r>
              <a:rPr b="0" i="1" lang="en-US" sz="1600" u="none" cap="none" strike="noStrike">
                <a:solidFill>
                  <a:srgbClr val="00E5FF"/>
                </a:solidFill>
                <a:latin typeface="Calibri"/>
                <a:ea typeface="Calibri"/>
                <a:cs typeface="Calibri"/>
                <a:sym typeface="Calibri"/>
              </a:rPr>
              <a:t>Questions &amp; Answers</a:t>
            </a:r>
            <a:endParaRPr b="0" i="0" sz="1600" u="none" cap="none" strike="noStrike">
              <a:solidFill>
                <a:schemeClr val="dk1"/>
              </a:solidFill>
              <a:latin typeface="Calibri"/>
              <a:ea typeface="Calibri"/>
              <a:cs typeface="Calibri"/>
              <a:sym typeface="Calibri"/>
            </a:endParaRPr>
          </a:p>
        </p:txBody>
      </p:sp>
      <p:sp>
        <p:nvSpPr>
          <p:cNvPr id="507" name="Google Shape;507;p10"/>
          <p:cNvSpPr/>
          <p:nvPr/>
        </p:nvSpPr>
        <p:spPr>
          <a:xfrm>
            <a:off x="457200" y="6473952"/>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GESTUREX — CONCLUSION</a:t>
            </a:r>
            <a:endParaRPr b="0" i="0" sz="900" u="none" cap="none" strike="noStrike">
              <a:solidFill>
                <a:schemeClr val="dk1"/>
              </a:solidFill>
              <a:latin typeface="Calibri"/>
              <a:ea typeface="Calibri"/>
              <a:cs typeface="Calibri"/>
              <a:sym typeface="Calibri"/>
            </a:endParaRPr>
          </a:p>
        </p:txBody>
      </p:sp>
      <p:sp>
        <p:nvSpPr>
          <p:cNvPr id="508" name="Google Shape;508;p10"/>
          <p:cNvSpPr/>
          <p:nvPr/>
        </p:nvSpPr>
        <p:spPr>
          <a:xfrm>
            <a:off x="11002975" y="6473952"/>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10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2026-08-09T17:47:43Z</dcterms:created>
  <dc:creator>PptxGenJS</dc:creator>
</cp:coreProperties>
</file>